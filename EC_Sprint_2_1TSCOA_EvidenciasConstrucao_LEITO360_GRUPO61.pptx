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</a:t>
            </a:r>
            <a:pPr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Construção da Solução &amp; Pitch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analítica que integra SIH/SUS, CNES e IBGE no Oracle AI Database para comparar internações, permanência, mortalidade e leitos SUS cadastrados entre UFs.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FIAP + Oracle 2026 · Turma 1TSCOA · Grupo 61 · Ciências de Dados · FIAP Paulista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569250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Silva de Jesus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Dados, fontes, arquitetura — Representante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50840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573021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Gabriel Bernardes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ETL e indicadores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53675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570993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Natália Naomi Nakamura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Gestão, negócio e documentação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5650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568816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Henrique Wei Chern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IA e Select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9344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570130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Vitória Cristina da Silva Coutinho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UX/UI, protótipo e front-end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dados do SUS fragmentados e tardios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de saúde cruzam manualmente SIH/SUS, CNES e IBGE para comparar internações, permanência, mortalidade e leitos SUS — sem visão única, comparável e auditável.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públicos de saúde, pesquisadores e analistas que precisam de uma visão comparativa nacional/regional/estadual baseada em dados oficiais abertos.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10312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44568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269748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as três fontes públicas em uma plataforma reprodutível e transparente, com indicadores documentados e consulta em linguagem natural via Oracle Select AI.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4736" y="210312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03336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MVP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03336" y="269748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competências (Nov/2025–Abr/2026), 27 UFs, indicadores de pressão assistencial, leitos SUS/10k hab. e permanência ponderada — sem prometer tempo real.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atualizada — planejado x entregue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o que foi proposto na Sprint 1 (protótipo Figma + apresentação) e o que foi realmente implementado nesta Sprint 2.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47120" cy="393192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4206240"/>
                <a:gridCol w="164592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[object Object]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 (planejado)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 (entregue)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fixos no código (ocupação, ranking, internações)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real SIH/SUS + CNES + IBGE, 162 registros reconciliados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Citado na UI, sem execução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relacional + JSON nativo + external table + view analítica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estático simulando resposta da 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real seguindo o LiveLabs 4222, 5 perguntas via SHOWSQL/RUNSQL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telas mockadas, "Ao vivo", ocupação fake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 reais, mapa por pressão assistencial, export CSV, sem mocks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publicado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Pendente de ação da equipe (GitHub + Pages)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Execução real no Oracle acadêmico e evidências do Select AI dependem da conta OCI de cada integrante — scripts prontos, aguardando rodada.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implementado — fontes de dados oficiais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fontes públicas, consultadas de verdade (não simuladas), com respostas originais preservadas em data/raw/.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59152"/>
            <a:ext cx="731520" cy="731520"/>
          </a:xfrm>
          <a:prstGeom prst="ellipse">
            <a:avLst/>
          </a:prstGeom>
          <a:solidFill>
            <a:srgbClr val="1E3A5F">
              <a:alpha val="8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591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4B8A6"/>
                </a:solidFill>
              </a:rPr>
              <a:t>◆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Morbidade Hospitalar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22677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Internações, permanência média, óbitos, taxa de mortalidade — por UF/competência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tabnet.datasus.gov.br (sih/cnv/niuf.def)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749040"/>
            <a:ext cx="731520" cy="731520"/>
          </a:xfrm>
          <a:prstGeom prst="ellipse">
            <a:avLst/>
          </a:prstGeom>
          <a:solidFill>
            <a:srgbClr val="1E3A5F">
              <a:alpha val="8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4B8A6"/>
                </a:solidFill>
              </a:rPr>
              <a:t>◆</a:t>
            </a:r>
            <a:endParaRPr lang="en-US" sz="1760" dirty="0"/>
          </a:p>
        </p:txBody>
      </p:sp>
      <p:sp>
        <p:nvSpPr>
          <p:cNvPr id="16" name="Text 14"/>
          <p:cNvSpPr/>
          <p:nvPr/>
        </p:nvSpPr>
        <p:spPr>
          <a:xfrm>
            <a:off x="1600200" y="3602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de Internação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0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de internação cadastrados e destinados ao SUS — por UF/competência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0" y="3858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tabnet.datasus.gov.br (cnes/cnv/leiintbr.def)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882896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5138928"/>
            <a:ext cx="731520" cy="731520"/>
          </a:xfrm>
          <a:prstGeom prst="ellipse">
            <a:avLst/>
          </a:prstGeom>
          <a:solidFill>
            <a:srgbClr val="1E3A5F">
              <a:alpha val="80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389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4B8A6"/>
                </a:solidFill>
              </a:rPr>
              <a:t>◆</a:t>
            </a:r>
            <a:endParaRPr lang="en-US" sz="1760" dirty="0"/>
          </a:p>
        </p:txBody>
      </p:sp>
      <p:sp>
        <p:nvSpPr>
          <p:cNvPr id="23" name="Text 21"/>
          <p:cNvSpPr/>
          <p:nvPr/>
        </p:nvSpPr>
        <p:spPr>
          <a:xfrm>
            <a:off x="1600200" y="4992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IBGE/SIDRA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Estimada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5047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estimada 2026 por UF — tabela 6579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0" y="52486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apisidra.ibge.gov.br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31850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Recorte: 6 competências (Nov/2025 a Abr/2026) · 27 UFs · 162 registros consolidados, sem duplicatas nem nulos, 100% reconciliados com os totais de controle do TabNet.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Algoritmos, métodos e transformações do ETL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Python (biblioteca padrão) reprodutível: fetch → parse → padronização → validação → indicadores → export.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real)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95728" y="2103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(HTML/JSON)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33088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34256" y="2103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34256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Padroniza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(UF/região)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71616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72784" y="2103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F29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72784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(cobertura/nulos)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10144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11312" y="2103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11312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Indicadores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(fórmulas)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48672" y="2331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49840" y="2103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49840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(CSV/JSON)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11247120" cy="2743200"/>
          </a:xfrm>
          <a:prstGeom prst="roundRect">
            <a:avLst>
              <a:gd name="adj" fmla="val 2667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520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fórmulas (implementados em etl/parse_validate_build.py)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931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Internações /100k hab. = internações ÷ população × 100.000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3159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Leitos SUS /10k hab. = leitos SUS cadastrados ÷ população × 10.000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70001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Permanência média ponderada = Σ(permanência UF × internações UF) ÷ Σ(internações)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0840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Variação mensal = (internações mês atual ÷ internações mês anterior − 1) × 100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4681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Internações por leito = internações ÷ leitos SUS cadastrados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Tercil de pressão assistencial comparativa (classificação por competência)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2ª/5ª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da execução real do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real de data/processed/validacao_pipeline.json — todos os 6 totais mensais batem exatamente com os totais de controle do TabNet.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27432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Competência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Internações (execução)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Internações (controle)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Diferença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Leitos SUS (execução)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Diferença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832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2025-11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1.193.539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1.193.539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315.733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2025-12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1.162.871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1.162.871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316.529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1.178.308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1.178.308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316.339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1.143.546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1.143.546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316.227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1.256.010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1.256.010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316.454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1.218.903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6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1.218.903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316.235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registros </a:t>
            </a:r>
            <a:pPr indent="0" marL="0">
              <a:buNone/>
            </a:pPr>
            <a:r>
              <a:rPr lang="en-US" sz="13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consolidados (27 UFs × 6 competências) · 0 duplicatas · 0 nulos em campos críticos · pipeline com código de saída ≠ 0 em caso de falha de qualidade.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dashboard (Visão Executiva)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recalculados, mapa por pressão assistencial comparativa (tercis reais), ranking e tendência de 6 meses — tudo consumindo public/data/leito360.json.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4114800"/>
          </a:xfrm>
          <a:prstGeom prst="roundRect">
            <a:avLst>
              <a:gd name="adj" fmla="val 1333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0881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em: pnpm dev → tela Visão Executiva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(filtro de competência + região + UF selecionada)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Explorador Analítico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guiados, SQL equivalente (identificado como não gerado por IA), tabela ordenável e exportação CSV.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4114800"/>
          </a:xfrm>
          <a:prstGeom prst="roundRect">
            <a:avLst>
              <a:gd name="adj" fmla="val 1333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0881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em: pnpm dev → tela Explorador Analítico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(tabela ordenada + painel de fontes/limitações)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final implementada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ponta a ponta: fontes oficiais → ETL Python → Oracle (3 formatos) → JSON sanitizado → dashboard estático.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51760"/>
            <a:ext cx="2084832" cy="73152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32461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 SIH/CNES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IBGE/SIDRA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23744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97480" y="265176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2651760"/>
            <a:ext cx="2084832" cy="73152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80720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Python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07208" y="32461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parse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→ indicadores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64024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37760" y="265176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651760"/>
            <a:ext cx="2084832" cy="73152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AI DB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47488" y="32461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+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External 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04304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178040" y="265176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2651760"/>
            <a:ext cx="2084832" cy="73152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728776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87768" y="32461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LEITO360_AI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SHOWSQL/RUNSQL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44584" y="3200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418320" y="265176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0" y="2651760"/>
            <a:ext cx="2084832" cy="73152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952804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28048" y="32461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estático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front-end não se conecta ao Oracle nem contém credenciais: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um JSON estático publicado pelo ETL local. O Select AI roda no Database Actions do Oracle e é demonstrado ao vivo no pitch.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257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dos dados:  </a:t>
            </a:r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SIH/SUS, CNES, IBGE/SIDRA — HTTP real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55412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Processamento:  </a:t>
            </a:r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stdlib — etl/fetch_raw.py + parse_validate_build.py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58247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Armazenamento/modelagem:  </a:t>
            </a:r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LEITO360_SIH, LEITO360_CNES_JSON, LEITO360_POPULACAO_EXT, VW_LEITO360_ANALITICO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Visualização/consumo:  </a:t>
            </a:r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public/data/leito360.json → dashboard React/Vite estático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realmente implementado (x planejado)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tratar Oracle/Select AI como "evolução futura" — status real de cada camada nesta sprint.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(3 fontes reais, validado, reconciliado)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2221992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221992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881360" y="2176272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0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072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Oracle (DDL relacional/JSON/external table/view/validações)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2880360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2880360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2807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881360" y="283464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655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Oracle + evidências (depende do ambiente acadêmico do usuário)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538728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3538728"/>
            <a:ext cx="1170432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87000" y="3465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881360" y="3493008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0" y="3493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2394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AI — perfil e perguntas (scripts prontos, seguindo LiveLabs 4222)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4197096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4197096"/>
            <a:ext cx="1755648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0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881360" y="4151376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41513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823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sem mocks (filtros, mapa, export CSV)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4855464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4855464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10287000" y="4782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881360" y="4809744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81360" y="48097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5440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(GitHub público + Pages + vídeo)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0" y="5513832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0" y="5513832"/>
            <a:ext cx="45720" cy="219456"/>
          </a:xfrm>
          <a:prstGeom prst="roundRect">
            <a:avLst>
              <a:gd name="adj" fmla="val 100000"/>
            </a:avLst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10287000" y="5440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881360" y="5468112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E3A5F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81360" y="5468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analíticos e técnicas utilizadas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 (EDA), padronização, reconciliação e classificação comparativa aplicadas ao conjunto consolidado.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402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padronização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Decodificação de entidades HTML/Latin-1, parsing do formato "prn" do TabNet, normalização de UF/região/competência.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33672" y="210312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6552" y="22402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qualidade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16552" y="26060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das 27 UFs por competência, checagem de duplicatas na chave (competência, UF), nulos em campos críticos.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210312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22402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estatística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3024" y="26060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por UF comparada à linha "Total" do próprio TabNet e aos totais de controle originais — divergências reportadas, nunca escondidas.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404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tercis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internacoes_por_100k_hab dividido em 3 grupos (baixo/médio/alto) por competência — indicador usado para colorir o mapa.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33672" y="370332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16552" y="38404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derivados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16552" y="42062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per capita, médias ponderadas por internações, variação mês a mês, razão internações/leito.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10144" y="3703320"/>
            <a:ext cx="3685032" cy="1463040"/>
          </a:xfrm>
          <a:prstGeom prst="roundRect">
            <a:avLst>
              <a:gd name="adj" fmla="val 500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93024" y="38404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em linguagem natural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93024" y="42062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(DBMS_CLOUD_AI) traduz pergunta em português para SQL sobre a view analítica.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AI Database — relacional, JSON e CSV/External 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formatos exigidos pelo Challenge, implementados em objetos separados e integrados por uma view analítica.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LEITO360_SIH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relacional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21031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internações, permanência média, taxa de mortalidade — PK (competência, UF)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LEITO360_CNES_JSON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Coleção/documento JSON nativo (23ai)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30632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SUS cadastrados + metadados da fonte, colunas virtuais para join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LEITO360_POPULACAO_EXT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table sobre CSV (Object Storage)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40233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DBMS_CLOUD.CREATE_EXTERNAL_TABLE, população por UF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5074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VW_LEITO360_ANALITICO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394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analítica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4983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as três fontes + indicadores derivados, base do Select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sintaxe: documentação oficial Oracle Autonomous AI Database 23ai (DDL/JSON/external table). O LiveLabs 4222 foi seguido literalmente apenas para o perfil do Select AI (DBMS_CLOUD_AI.CREATE_PROFILE, provider OCI, DBMS_CLOUD_AI.GENERATE) — ele não cobre criação de tabelas customizadas. Decisão documentada em docs/arquitetura/decisao_livelabs_4222.md.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4ª/5ª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AI — perguntas de negócio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LEITO360_AI restrito aos objetos do projeto. Cada pergunta roda com SHOWSQL (mostra o SQL gerado) e RUNSQL (executa e traz o resultado).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48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UFs tiveram mais internações por 100 mil habitantes em abril de 2026?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88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regiões possuem menor oferta de leitos SUS por 10 mil habitantes?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29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UFs possuem permanência média acima da média nacional?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0690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0690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UFs apresentaram maior aumento de internações entre março e abril de 2026?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709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7091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internações e leitos SUS cadastrados por região em abril de 2026.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reais (prompt, SQL gerado, resultado, interpretação, limitações) documentadas em docs/evidencias/select_ai_perguntas.md após execução no ambiente Oracle acadêmico.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visuais — Oracle (tabelas, JSON, external table, view)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após rodar oracle/sql/01 a 06 no ambiente acadêmico. Cada print deve indicar: o que mostra, o que comprova, a fonte e a limitação.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relacional LEITO360_SIH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 * + COUNT)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1031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263640" y="2286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JSON LEITO360_CNES_JSON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 IS JSON)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43891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Table LEITO360_POPULACAO_EXT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 COUNT/SUM)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2062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63640" y="43891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VW_LEITO360_ANALITICO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(consulta integrada)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Evidências visuais — Select AI (sem expor credenciais)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configuração do perfil, de um prompt real e do SQL + resultado gerados.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perfil LEITO360_AI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usuário/senha visíveis)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1031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263640" y="228600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real (uma das 5 perguntas)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ação SHOWSQL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43891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gerado pelo Select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42062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60D1E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63640" y="43891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PENDENTE
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da execução (RUNSQL)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técnico e código-fonte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github.com/gabriellive1817-stack/Leito_360 (publicar como público) — estrutura organizada por responsabilidade.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86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LEITO360/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                front-end React + TypeScript + 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8712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public/data/          JSON sanitizado consumido pelo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1638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etl/                  pipeline Python (fetch, parse, validação, indicadores)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456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data/raw/             respostas originais das fontes (preservadas)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data/processed/       CSV/JSON tratados + relatório de validação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0416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oracle/data/          3 formatos separados (CSV relacional, JSON, CSV externo)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33425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oracle/sql/           DDL, carga, view analítica, Select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6268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docs/evidencias/      evidências (o quê, prova, fonte, limitação)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91947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docs/arquitetura/     diagramas e decisões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212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docs/gerenciamento/   gestão do projeto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5046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docs/roteiro_pitch/   roteiro do vídeo hands-on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79729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             arquitetura, indicadores, como executar tudo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210312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2286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credenciais no repositório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26517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bloqueia node_modules, .env, wallets, tokens e arquivos de credencial. Scripts Oracle usam apenas placeholders (&lt;CREDENTIAL_NAME&gt;, &lt;URI_...&gt;, &lt;SCHEMA_...&gt;).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0" y="3840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repositório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4206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github.com/gabriellive1817-stack/Leito_360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da aplicação publicada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5074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 após publicar no GitHub Pages]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pitch e demonstração hands-on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minutos — roteiro completo em docs/roteiro_pitch/roteiro.md. Gravar somente após todos os links/componentes estarem funcionando.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2103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SUS fragmentados entre SIH/SUS, CNES e IBGE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889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7889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7889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as três fontes numa plataforma reprodutível e transparente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4747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1:00–2:00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4747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 arquitetura Oracle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ponta a ponta, três formatos, view analítica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1605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2:00–4:00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1605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hands-on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filtros, UF selecionada, Oracle, view, Select AI real, SQL, resultado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8463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48463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48463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oficiais, pipeline auditável, transparência sobre limitações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532120"/>
            <a:ext cx="11247120" cy="621792"/>
          </a:xfrm>
          <a:prstGeom prst="roundRect">
            <a:avLst>
              <a:gd name="adj" fmla="val 1176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55321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5532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5532120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Recapitulação do que foi implementado + próximos passos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vídeo (YouTube): [preencher após gravação e publicação]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8ª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Resultados, limitações e próximos passos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162 registros reais, reconciliados exatamente com o TabNet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formatos Oracle implementados (scripts prontos)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AI seguindo literalmente o LiveLabs 4222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sem nenhum mock, testado no navegador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reprodutível com validação automática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251460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Leitos SUS cadastrados ≠ vagas livres em tempo real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Dados de competências fechadas, não monitoramento ao vivo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alertas automáticos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Mapa usa geometria estilizada, não shapefile oficial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AI depende de provedor de LLM configurado pelo usuário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96596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251460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Automatizar a carga Oracle via job agendado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Avaliar endpoint ORDS seguro para consulta guiada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Ampliar indicadores (CID, tipo de procedimento)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Publicar GitHub, GitHub Pages e vídeo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LEITO</a:t>
            </a:r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Grupo 61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Silva de Jesus · João Gabriel Bernardes · Natália Naomi Nakamura · Pedro Henrique Wei Chern · Vitória Cristina da Silva Coutinho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9875520" cy="1920240"/>
          </a:xfrm>
          <a:prstGeom prst="roundRect">
            <a:avLst>
              <a:gd name="adj" fmla="val 3810"/>
            </a:avLst>
          </a:prstGeom>
          <a:solidFill>
            <a:srgbClr val="0F2A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46177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SIH/SUS — tabnet.datasus.gov.br/cgi/deftohtm.exe?sih/cnv/niuf.def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488289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 — tabnet.datasus.gov.br/cgi/deftohtm.exe?cnes/cnv/leiintbr.def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514807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IBGE/SIDRA — apisidra.ibge.gov.br (tabela 6579)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541324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LiveLabs 4222 — livelabs.oracle.com (Chat with Your Data Using Select AI)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567842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AI Database 23ai — documentação oficial Oracle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LEITO360 — Challenge FIAP + Oracle 2026 — Grupo 61 — 1TSCOA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2026-09-01T01:16:59Z</dcterms:created>
  <dcterms:modified xsi:type="dcterms:W3CDTF">2026-09-01T01:16:59Z</dcterms:modified>
</cp:coreProperties>
</file>