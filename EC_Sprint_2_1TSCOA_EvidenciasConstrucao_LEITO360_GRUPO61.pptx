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B1B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9144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LEITO</a:t>
            </a:r>
            <a:pPr indent="0" marL="0">
              <a:buNone/>
            </a:pPr>
            <a:r>
              <a:rPr lang="en-US" sz="6000" b="1" dirty="0">
                <a:solidFill>
                  <a:srgbClr val="14B8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360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822960" y="288036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2 — Construção da Solução &amp; Pitch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22960" y="338328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analítica que integra SIH/SUS, CNES e IBGE no Oracle AI Database para comparar internações, permanência, mortalidade e leitos SUS cadastrados entre UFs.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822960" y="4206240"/>
            <a:ext cx="10515600" cy="2011680"/>
          </a:xfrm>
          <a:prstGeom prst="roundRect">
            <a:avLst>
              <a:gd name="adj" fmla="val 3636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097280" y="43434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 FIAP + Oracle 2026 · Turma 1TSCOA · Grupo 61 · Ciências de Dados · FIAP Paulista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97280" y="48006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 569250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Gabriel Silva de Jesus  </a:t>
            </a:r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Dados, fontes, arquitetura — Representante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97280" y="508406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 573021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João Gabriel Bernardes  </a:t>
            </a:r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ETL e indicadores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97280" y="536752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 570993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Natália Naomi Nakamura  </a:t>
            </a:r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Gestão, negócio e documentação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97280" y="565099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 568816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Pedro Henrique Wei Chern  </a:t>
            </a:r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IA e Select AI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097280" y="5934456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 570130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Vitória Cristina da Silva Coutinho  </a:t>
            </a:r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UX/UI, protótipo e front-end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291840" cy="36576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problema: dados do SUS fragmentados e tardios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Gestores de saúde cruzam manualmente SIH/SUS, CNES e IBGE para comparar internações, permanência, mortalidade e leitos SUS — sem visão única, comparável e auditável.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2103120"/>
            <a:ext cx="3703320" cy="3566160"/>
          </a:xfrm>
          <a:prstGeom prst="roundRect">
            <a:avLst>
              <a:gd name="adj" fmla="val 2051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85800" y="228600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Público-alvo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85800" y="2697480"/>
            <a:ext cx="32461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Gestores públicos de saúde, pesquisadores e analistas que precisam de uma visão comparativa nacional/regional/estadual baseada em dados oficiais abertos.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15968" y="2103120"/>
            <a:ext cx="3703320" cy="3566160"/>
          </a:xfrm>
          <a:prstGeom prst="roundRect">
            <a:avLst>
              <a:gd name="adj" fmla="val 2051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544568" y="228600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44568" y="2697480"/>
            <a:ext cx="32461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Consolidar as três fontes públicas em uma plataforma reprodutível e transparente, com indicadores documentados e consulta em linguagem natural via Oracle Select AI.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174736" y="2103120"/>
            <a:ext cx="3703320" cy="3566160"/>
          </a:xfrm>
          <a:prstGeom prst="roundRect">
            <a:avLst>
              <a:gd name="adj" fmla="val 2051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403336" y="228600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Escopo do MVP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403336" y="2697480"/>
            <a:ext cx="32461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 competências (Nov/2025–Abr/2026), 27 UFs, indicadores de pressão assistencial, leitos SUS/10k hab. e permanência ponderada — sem prometer tempo real.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291840" cy="36576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1ª ENTREGA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Sprint 1 atualizada — planejado x entregue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Comparativo entre o que foi proposto na Sprint 1 (protótipo Figma + apresentação) e o que foi realmente implementado nesta Sprint 2.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48840"/>
          <a:ext cx="11247120" cy="3931920"/>
        </p:xfrm>
        <a:graphic>
          <a:graphicData uri="http://schemas.openxmlformats.org/drawingml/2006/table">
            <a:tbl>
              <a:tblPr/>
              <a:tblGrid>
                <a:gridCol w="1737360"/>
                <a:gridCol w="3657600"/>
                <a:gridCol w="4206240"/>
                <a:gridCol w="1645920"/>
              </a:tblGrid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[object Object]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Sprint 1 (planejado)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8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Sprint 2 (entregue)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8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832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Dados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Números fixos no código (ocupação, ranking, internações)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Pipeline real SIH/SUS + CNES + IBGE, 162 registros reconciliados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B8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Oracle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Citado na UI, sem execução real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Tabela relacional + JSON nativo + external table + view analítica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F59E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Implementado*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Select AI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SQL estático simulando resposta da 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Perfil real seguindo o LiveLabs 4222, 5 perguntas via SHOWSQL/RUNSQL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F59E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Parcial*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telas mockadas, "Ao vivo", ocupação fake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Filtros reais, mapa por pressão assistencial, export CSV, sem mocks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B8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Publicação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 publicado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Pendente de ação da equipe (GitHub + Pages)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Planejado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617220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Execução real no Oracle acadêmico e evidências do Select AI dependem da conta OCI de cada integrante — scripts prontos, aguardando rodada.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291840" cy="36576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2ª ENTREGA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MVP implementado — fontes de dados oficiais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fontes públicas, consultadas de verdade (não simuladas), com respostas originais preservadas em data/raw/.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2103120"/>
            <a:ext cx="11247120" cy="1234440"/>
          </a:xfrm>
          <a:prstGeom prst="roundRect">
            <a:avLst>
              <a:gd name="adj" fmla="val 5926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85800" y="2359152"/>
            <a:ext cx="731520" cy="731520"/>
          </a:xfrm>
          <a:prstGeom prst="ellipse">
            <a:avLst/>
          </a:prstGeom>
          <a:solidFill>
            <a:srgbClr val="1E3A5F">
              <a:alpha val="80000"/>
            </a:srgbClr>
          </a:solidFill>
          <a:ln w="19050">
            <a:solidFill>
              <a:srgbClr val="14B8A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2359152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60" b="1" dirty="0">
                <a:solidFill>
                  <a:srgbClr val="14B8A6"/>
                </a:solidFill>
              </a:rPr>
              <a:t>◆</a:t>
            </a:r>
            <a:endParaRPr lang="en-US" sz="1760" dirty="0"/>
          </a:p>
        </p:txBody>
      </p:sp>
      <p:sp>
        <p:nvSpPr>
          <p:cNvPr id="9" name="Text 7"/>
          <p:cNvSpPr/>
          <p:nvPr/>
        </p:nvSpPr>
        <p:spPr>
          <a:xfrm>
            <a:off x="1600200" y="22128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SIH/SUS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600200" y="25420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Morbidade Hospitalar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663440" y="2267712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Internações, permanência média, óbitos, taxa de mortalidade — por UF/competência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9326880" y="24688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tabnet.datasus.gov.br (sih/cnv/niuf.def)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" y="3493008"/>
            <a:ext cx="11247120" cy="1234440"/>
          </a:xfrm>
          <a:prstGeom prst="roundRect">
            <a:avLst>
              <a:gd name="adj" fmla="val 5926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85800" y="3749040"/>
            <a:ext cx="731520" cy="731520"/>
          </a:xfrm>
          <a:prstGeom prst="ellipse">
            <a:avLst/>
          </a:prstGeom>
          <a:solidFill>
            <a:srgbClr val="1E3A5F">
              <a:alpha val="80000"/>
            </a:srgbClr>
          </a:solidFill>
          <a:ln w="19050">
            <a:solidFill>
              <a:srgbClr val="14B8A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37490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60" b="1" dirty="0">
                <a:solidFill>
                  <a:srgbClr val="14B8A6"/>
                </a:solidFill>
              </a:rPr>
              <a:t>◆</a:t>
            </a:r>
            <a:endParaRPr lang="en-US" sz="1760" dirty="0"/>
          </a:p>
        </p:txBody>
      </p:sp>
      <p:sp>
        <p:nvSpPr>
          <p:cNvPr id="16" name="Text 14"/>
          <p:cNvSpPr/>
          <p:nvPr/>
        </p:nvSpPr>
        <p:spPr>
          <a:xfrm>
            <a:off x="1600200" y="360273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CNES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600200" y="3931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Leitos de Internação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663440" y="365760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Leitos de internação cadastrados e destinados ao SUS — por UF/competência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9326880" y="385876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tabnet.datasus.gov.br (cnes/cnv/leiintbr.def)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57200" y="4882896"/>
            <a:ext cx="11247120" cy="1234440"/>
          </a:xfrm>
          <a:prstGeom prst="roundRect">
            <a:avLst>
              <a:gd name="adj" fmla="val 5926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85800" y="5138928"/>
            <a:ext cx="731520" cy="731520"/>
          </a:xfrm>
          <a:prstGeom prst="ellipse">
            <a:avLst/>
          </a:prstGeom>
          <a:solidFill>
            <a:srgbClr val="1E3A5F">
              <a:alpha val="80000"/>
            </a:srgbClr>
          </a:solidFill>
          <a:ln w="19050">
            <a:solidFill>
              <a:srgbClr val="14B8A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5800" y="513892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60" b="1" dirty="0">
                <a:solidFill>
                  <a:srgbClr val="14B8A6"/>
                </a:solidFill>
              </a:rPr>
              <a:t>◆</a:t>
            </a:r>
            <a:endParaRPr lang="en-US" sz="1760" dirty="0"/>
          </a:p>
        </p:txBody>
      </p:sp>
      <p:sp>
        <p:nvSpPr>
          <p:cNvPr id="23" name="Text 21"/>
          <p:cNvSpPr/>
          <p:nvPr/>
        </p:nvSpPr>
        <p:spPr>
          <a:xfrm>
            <a:off x="1600200" y="4992624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IBGE/SIDRA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600200" y="53218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População Estimada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4663440" y="5047488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População estimada 2026 por UF — tabela 6579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9326880" y="524865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apisidra.ibge.gov.br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57200" y="6318504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Recorte: 6 competências (Nov/2025 a Abr/2026) · 27 UFs · 162 registros consolidados, sem duplicatas nem nulos, 100% reconciliados com os totais de controle do TabNet.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291840" cy="36576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2ª ENTREGA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Algoritmos, métodos e transformações do ETL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Python (biblioteca padrão) reprodutível: fetch → parse → padronização → validação → indicadores → export.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2103120"/>
            <a:ext cx="1783080" cy="1005840"/>
          </a:xfrm>
          <a:prstGeom prst="roundRect">
            <a:avLst>
              <a:gd name="adj" fmla="val 7273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210312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Fetch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(HTTP real)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194560" y="233172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4B8A6"/>
                </a:solidFill>
              </a:rPr>
              <a:t>→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2395728" y="2103120"/>
            <a:ext cx="1783080" cy="1005840"/>
          </a:xfrm>
          <a:prstGeom prst="roundRect">
            <a:avLst>
              <a:gd name="adj" fmla="val 7273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395728" y="210312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Parse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(HTML/JSON)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133088" y="233172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4B8A6"/>
                </a:solidFill>
              </a:rPr>
              <a:t>→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334256" y="2103120"/>
            <a:ext cx="1783080" cy="1005840"/>
          </a:xfrm>
          <a:prstGeom prst="roundRect">
            <a:avLst>
              <a:gd name="adj" fmla="val 7273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334256" y="210312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Padroniza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(UF/região)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071616" y="233172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4B8A6"/>
                </a:solidFill>
              </a:rPr>
              <a:t>→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272784" y="2103120"/>
            <a:ext cx="1783080" cy="1005840"/>
          </a:xfrm>
          <a:prstGeom prst="roundRect">
            <a:avLst>
              <a:gd name="adj" fmla="val 7273"/>
            </a:avLst>
          </a:prstGeom>
          <a:solidFill>
            <a:srgbClr val="1F2937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272784" y="210312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Valida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(cobertura/nulos)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010144" y="233172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4B8A6"/>
                </a:solidFill>
              </a:rPr>
              <a:t>→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8211312" y="2103120"/>
            <a:ext cx="1783080" cy="1005840"/>
          </a:xfrm>
          <a:prstGeom prst="roundRect">
            <a:avLst>
              <a:gd name="adj" fmla="val 7273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211312" y="210312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Indicadores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(fórmulas)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948672" y="233172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4B8A6"/>
                </a:solidFill>
              </a:rPr>
              <a:t>→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0149840" y="2103120"/>
            <a:ext cx="1783080" cy="1005840"/>
          </a:xfrm>
          <a:prstGeom prst="roundRect">
            <a:avLst>
              <a:gd name="adj" fmla="val 7273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10149840" y="210312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Export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(CSV/JSON)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3383280"/>
            <a:ext cx="11247120" cy="2743200"/>
          </a:xfrm>
          <a:prstGeom prst="roundRect">
            <a:avLst>
              <a:gd name="adj" fmla="val 2667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85800" y="352044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e fórmulas (implementados em etl/parse_validate_build.py)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85800" y="393192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</a:t>
            </a:r>
            <a:pPr indent="0" marL="0">
              <a:buNone/>
            </a:pPr>
            <a:r>
              <a:rPr lang="en-US" sz="120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Internações /100k hab. = internações ÷ população × 100.000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85800" y="43159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</a:t>
            </a:r>
            <a:pPr indent="0" marL="0">
              <a:buNone/>
            </a:pPr>
            <a:r>
              <a:rPr lang="en-US" sz="120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Leitos SUS /10k hab. = leitos SUS cadastrados ÷ população × 10.000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85800" y="4700016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</a:t>
            </a:r>
            <a:pPr indent="0" marL="0">
              <a:buNone/>
            </a:pPr>
            <a:r>
              <a:rPr lang="en-US" sz="120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Permanência média ponderada = Σ(permanência UF × internações UF) ÷ Σ(internações)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85800" y="5084064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</a:t>
            </a:r>
            <a:pPr indent="0" marL="0">
              <a:buNone/>
            </a:pPr>
            <a:r>
              <a:rPr lang="en-US" sz="120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Variação mensal = (internações mês atual ÷ internações mês anterior − 1) × 100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85800" y="546811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</a:t>
            </a:r>
            <a:pPr indent="0" marL="0">
              <a:buNone/>
            </a:pPr>
            <a:r>
              <a:rPr lang="en-US" sz="120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Internações por leito = internações ÷ leitos SUS cadastrados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85800" y="585216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9E0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</a:t>
            </a:r>
            <a:pPr indent="0" marL="0">
              <a:buNone/>
            </a:pPr>
            <a:r>
              <a:rPr lang="en-US" sz="120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Tercil de pressão assistencial comparativa (classificação por competência)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291840" cy="36576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2ª/5ª ENTREGA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Evidência da execução real do pipeline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Saída real de data/processed/validacao_pipeline.json — todos os 6 totais mensais batem exatamente com os totais de controle do TabNet.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03120"/>
          <a:ext cx="11247120" cy="27432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391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Competência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8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Internações (execução)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8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Internações (controle)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8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Diferença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8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Leitos SUS (execução)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8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Diferença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832"/>
                    </a:solidFill>
                  </a:tcPr>
                </a:tc>
              </a:tr>
              <a:tr h="391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2025-11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1.193.539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1.193.539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315.733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  <a:tr h="391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2025-12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1.162.871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1.162.871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316.529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  <a:tr h="391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2026-01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1.178.308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1.178.308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316.339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  <a:tr h="391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2026-02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1.143.546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1.143.546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316.227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  <a:tr h="391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2026-03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1.256.010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1.256.010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316.454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  <a:tr h="391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2026-04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1.218.903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1.218.903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316.235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B8A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57200" y="5029200"/>
            <a:ext cx="11247120" cy="1188720"/>
          </a:xfrm>
          <a:prstGeom prst="roundRect">
            <a:avLst>
              <a:gd name="adj" fmla="val 6154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52120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162 registros </a:t>
            </a:r>
            <a:pPr indent="0" marL="0">
              <a:buNone/>
            </a:pPr>
            <a:r>
              <a:rPr lang="en-US" sz="13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consolidados (27 UFs × 6 competências) · 0 duplicatas · 0 nulos em campos críticos · pipeline com código de saída ≠ 0 em caso de falha de qualidade.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291840" cy="36576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2ª ENTREGA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MVP — dashboard (Visão Executiva)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KPIs recalculados, mapa por pressão assistencial comparativa (tercis reais), ranking e tendência de 6 meses — tudo consumindo public/data/leito360.json.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2103120"/>
            <a:ext cx="11247120" cy="4114800"/>
          </a:xfrm>
          <a:prstGeom prst="roundRect">
            <a:avLst>
              <a:gd name="adj" fmla="val 1333"/>
            </a:avLst>
          </a:prstGeom>
          <a:solidFill>
            <a:srgbClr val="060D1E"/>
          </a:solidFill>
          <a:ln w="15875">
            <a:solidFill>
              <a:srgbClr val="F59E0B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640080" y="2286000"/>
            <a:ext cx="1088136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PENDENTE
</a:t>
            </a:r>
            <a:endParaRPr lang="en-US" sz="12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Capturar em: gabriellive1817-stack.github.io/Leito_360</a:t>
            </a:r>
            <a:endParaRPr lang="en-US" sz="12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(tela Visão Executiva — filtro de competência + região + UF selecionada)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291840" cy="36576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2ª ENTREGA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MVP — Explorador Analítico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Filtros guiados, SQL equivalente (identificado como não gerado por IA), tabela ordenável e exportação CSV.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2103120"/>
            <a:ext cx="11247120" cy="4114800"/>
          </a:xfrm>
          <a:prstGeom prst="roundRect">
            <a:avLst>
              <a:gd name="adj" fmla="val 1333"/>
            </a:avLst>
          </a:prstGeom>
          <a:solidFill>
            <a:srgbClr val="060D1E"/>
          </a:solidFill>
          <a:ln w="15875">
            <a:solidFill>
              <a:srgbClr val="F59E0B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640080" y="2286000"/>
            <a:ext cx="1088136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PENDENTE
</a:t>
            </a:r>
            <a:endParaRPr lang="en-US" sz="12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Capturar em: gabriellive1817-stack.github.io/Leito_360</a:t>
            </a:r>
            <a:endParaRPr lang="en-US" sz="12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(tela Explorador Analítico — tabela ordenada + painel de fontes/limitações)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291840" cy="36576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3ª ENTREGA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Arquitetura final implementada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Fluxo ponta a ponta: fontes oficiais → ETL Python → Oracle (3 formatos) → JSON sanitizado → dashboard estático.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2651760"/>
            <a:ext cx="2084832" cy="1554480"/>
          </a:xfrm>
          <a:prstGeom prst="roundRect">
            <a:avLst>
              <a:gd name="adj" fmla="val 4706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2651760"/>
            <a:ext cx="2084832" cy="73152"/>
          </a:xfrm>
          <a:prstGeom prst="roundRect">
            <a:avLst/>
          </a:prstGeom>
          <a:solidFill>
            <a:srgbClr val="14B8A6"/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2834640"/>
            <a:ext cx="1865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Fontes oficiais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3246120"/>
            <a:ext cx="1865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TabNet SIH/CNES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IBGE/SIDRA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523744" y="320040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4B8A6"/>
                </a:solidFill>
              </a:rPr>
              <a:t>→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2697480" y="2651760"/>
            <a:ext cx="2084832" cy="1554480"/>
          </a:xfrm>
          <a:prstGeom prst="roundRect">
            <a:avLst>
              <a:gd name="adj" fmla="val 4706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697480" y="2651760"/>
            <a:ext cx="2084832" cy="73152"/>
          </a:xfrm>
          <a:prstGeom prst="roundRect">
            <a:avLst/>
          </a:prstGeom>
          <a:solidFill>
            <a:srgbClr val="F59E0B"/>
          </a:solidFill>
          <a:ln/>
        </p:spPr>
      </p:sp>
      <p:sp>
        <p:nvSpPr>
          <p:cNvPr id="13" name="Text 11"/>
          <p:cNvSpPr/>
          <p:nvPr/>
        </p:nvSpPr>
        <p:spPr>
          <a:xfrm>
            <a:off x="2807208" y="2834640"/>
            <a:ext cx="1865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ETL Python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2807208" y="3246120"/>
            <a:ext cx="1865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 → parse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 → indicadores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764024" y="320040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4B8A6"/>
                </a:solidFill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4937760" y="2651760"/>
            <a:ext cx="2084832" cy="1554480"/>
          </a:xfrm>
          <a:prstGeom prst="roundRect">
            <a:avLst>
              <a:gd name="adj" fmla="val 4706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937760" y="2651760"/>
            <a:ext cx="2084832" cy="73152"/>
          </a:xfrm>
          <a:prstGeom prst="roundRect">
            <a:avLst/>
          </a:prstGeom>
          <a:solidFill>
            <a:srgbClr val="3B82F6"/>
          </a:solidFill>
          <a:ln/>
        </p:spPr>
      </p:sp>
      <p:sp>
        <p:nvSpPr>
          <p:cNvPr id="18" name="Text 16"/>
          <p:cNvSpPr/>
          <p:nvPr/>
        </p:nvSpPr>
        <p:spPr>
          <a:xfrm>
            <a:off x="5047488" y="2834640"/>
            <a:ext cx="1865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 AI DB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047488" y="3246120"/>
            <a:ext cx="1865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Relacional + JSON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External Table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004304" y="320040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4B8A6"/>
                </a:solidFill>
              </a:rPr>
              <a:t>→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7178040" y="2651760"/>
            <a:ext cx="2084832" cy="1554480"/>
          </a:xfrm>
          <a:prstGeom prst="roundRect">
            <a:avLst>
              <a:gd name="adj" fmla="val 4706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178040" y="2651760"/>
            <a:ext cx="2084832" cy="73152"/>
          </a:xfrm>
          <a:prstGeom prst="roundRect">
            <a:avLst/>
          </a:prstGeom>
          <a:solidFill>
            <a:srgbClr val="8B5CF6"/>
          </a:solidFill>
          <a:ln/>
        </p:spPr>
      </p:sp>
      <p:sp>
        <p:nvSpPr>
          <p:cNvPr id="23" name="Text 21"/>
          <p:cNvSpPr/>
          <p:nvPr/>
        </p:nvSpPr>
        <p:spPr>
          <a:xfrm>
            <a:off x="7287768" y="2834640"/>
            <a:ext cx="1865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AI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7287768" y="3246120"/>
            <a:ext cx="1865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LEITO360_AI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SHOWSQL/RUNSQL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9244584" y="320040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4B8A6"/>
                </a:solidFill>
              </a:rPr>
              <a:t>→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9418320" y="2651760"/>
            <a:ext cx="2084832" cy="1554480"/>
          </a:xfrm>
          <a:prstGeom prst="roundRect">
            <a:avLst>
              <a:gd name="adj" fmla="val 4706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9418320" y="2651760"/>
            <a:ext cx="2084832" cy="73152"/>
          </a:xfrm>
          <a:prstGeom prst="roundRect">
            <a:avLst/>
          </a:prstGeom>
          <a:solidFill>
            <a:srgbClr val="14B8A6"/>
          </a:solidFill>
          <a:ln/>
        </p:spPr>
      </p:sp>
      <p:sp>
        <p:nvSpPr>
          <p:cNvPr id="28" name="Text 26"/>
          <p:cNvSpPr/>
          <p:nvPr/>
        </p:nvSpPr>
        <p:spPr>
          <a:xfrm>
            <a:off x="9528048" y="2834640"/>
            <a:ext cx="18653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9528048" y="3246120"/>
            <a:ext cx="1865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React/Vite estático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Pages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57200" y="457200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front-end não se conecta ao Oracle nem contém credenciais: </a:t>
            </a:r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lê um JSON estático publicado pelo ETL local. O Select AI roda no Database Actions do Oracle e é demonstrado ao vivo no pitch.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57200" y="52578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Origem dos dados:  </a:t>
            </a:r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SIH/SUS, CNES, IBGE/SIDRA — HTTP real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57200" y="5541264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Processamento:  </a:t>
            </a:r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stdlib — etl/fetch_raw.py + parse_validate_build.py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457200" y="58247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Armazenamento/modelagem:  </a:t>
            </a:r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Oracle: LEITO360_SIH, LEITO360_CNES_JSON, LEITO360_POPULACAO_EXT, VW_LEITO360_ANALITICO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457200" y="610819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Visualização/consumo:  </a:t>
            </a:r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public/data/leito360.json → dashboard React/Vite estático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291840" cy="36576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3ª ENTREGA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foi realmente implementado (x planejado)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tratar Oracle/Select AI como "evolução futura" — status real de cada camada nesta sprint.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214884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ETL (3 fontes reais, validado, reconciliado)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0" y="2221992"/>
            <a:ext cx="2926080" cy="219456"/>
          </a:xfrm>
          <a:prstGeom prst="roundRect">
            <a:avLst>
              <a:gd name="adj" fmla="val 20833"/>
            </a:avLst>
          </a:prstGeom>
          <a:solidFill>
            <a:srgbClr val="1E3A5F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00" y="2221992"/>
            <a:ext cx="2926080" cy="219456"/>
          </a:xfrm>
          <a:prstGeom prst="roundRect">
            <a:avLst>
              <a:gd name="adj" fmla="val 20833"/>
            </a:avLst>
          </a:prstGeom>
          <a:solidFill>
            <a:srgbClr val="14B8A6"/>
          </a:solidFill>
          <a:ln/>
        </p:spPr>
      </p:sp>
      <p:sp>
        <p:nvSpPr>
          <p:cNvPr id="9" name="Text 7"/>
          <p:cNvSpPr/>
          <p:nvPr/>
        </p:nvSpPr>
        <p:spPr>
          <a:xfrm>
            <a:off x="10287000" y="21488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0881360" y="2176272"/>
            <a:ext cx="1737360" cy="320040"/>
          </a:xfrm>
          <a:prstGeom prst="roundRect">
            <a:avLst>
              <a:gd name="adj" fmla="val 48571"/>
            </a:avLst>
          </a:prstGeom>
          <a:solidFill>
            <a:srgbClr val="1E3A5F">
              <a:alpha val="80000"/>
            </a:srgbClr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881360" y="217627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Implementado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7200" y="2807208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Execução Oracle (3 formatos + view, 162 registros confirmados no LiveLabs)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315200" y="2880360"/>
            <a:ext cx="2926080" cy="219456"/>
          </a:xfrm>
          <a:prstGeom prst="roundRect">
            <a:avLst>
              <a:gd name="adj" fmla="val 20833"/>
            </a:avLst>
          </a:prstGeom>
          <a:solidFill>
            <a:srgbClr val="1E3A5F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00" y="2880360"/>
            <a:ext cx="2926080" cy="219456"/>
          </a:xfrm>
          <a:prstGeom prst="roundRect">
            <a:avLst>
              <a:gd name="adj" fmla="val 20833"/>
            </a:avLst>
          </a:prstGeom>
          <a:solidFill>
            <a:srgbClr val="14B8A6"/>
          </a:solidFill>
          <a:ln/>
        </p:spPr>
      </p:sp>
      <p:sp>
        <p:nvSpPr>
          <p:cNvPr id="15" name="Text 13"/>
          <p:cNvSpPr/>
          <p:nvPr/>
        </p:nvSpPr>
        <p:spPr>
          <a:xfrm>
            <a:off x="10287000" y="280720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0881360" y="2834640"/>
            <a:ext cx="1737360" cy="320040"/>
          </a:xfrm>
          <a:prstGeom prst="roundRect">
            <a:avLst>
              <a:gd name="adj" fmla="val 48571"/>
            </a:avLst>
          </a:prstGeom>
          <a:solidFill>
            <a:srgbClr val="1E3A5F">
              <a:alpha val="80000"/>
            </a:srgbClr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881360" y="283464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Implementado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3465576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AI — perfil criado; GENERATE bloqueado por indisponibilidade do OCI GenAI no sandbox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315200" y="3538728"/>
            <a:ext cx="2926080" cy="219456"/>
          </a:xfrm>
          <a:prstGeom prst="roundRect">
            <a:avLst>
              <a:gd name="adj" fmla="val 20833"/>
            </a:avLst>
          </a:prstGeom>
          <a:solidFill>
            <a:srgbClr val="1E3A5F"/>
          </a:solidFill>
          <a:ln/>
        </p:spPr>
      </p:sp>
      <p:sp>
        <p:nvSpPr>
          <p:cNvPr id="20" name="Shape 18"/>
          <p:cNvSpPr/>
          <p:nvPr/>
        </p:nvSpPr>
        <p:spPr>
          <a:xfrm>
            <a:off x="7315200" y="3538728"/>
            <a:ext cx="2048256" cy="219456"/>
          </a:xfrm>
          <a:prstGeom prst="roundRect">
            <a:avLst>
              <a:gd name="adj" fmla="val 20833"/>
            </a:avLst>
          </a:prstGeom>
          <a:solidFill>
            <a:srgbClr val="F59E0B"/>
          </a:solidFill>
          <a:ln/>
        </p:spPr>
      </p:sp>
      <p:sp>
        <p:nvSpPr>
          <p:cNvPr id="21" name="Text 19"/>
          <p:cNvSpPr/>
          <p:nvPr/>
        </p:nvSpPr>
        <p:spPr>
          <a:xfrm>
            <a:off x="10287000" y="346557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70%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10881360" y="3493008"/>
            <a:ext cx="1737360" cy="320040"/>
          </a:xfrm>
          <a:prstGeom prst="roundRect">
            <a:avLst>
              <a:gd name="adj" fmla="val 48571"/>
            </a:avLst>
          </a:prstGeom>
          <a:solidFill>
            <a:srgbClr val="1E3A5F">
              <a:alpha val="80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881360" y="349300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Parcial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57200" y="4123944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sem mocks (filtros, mapa, export CSV)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315200" y="4197096"/>
            <a:ext cx="2926080" cy="219456"/>
          </a:xfrm>
          <a:prstGeom prst="roundRect">
            <a:avLst>
              <a:gd name="adj" fmla="val 20833"/>
            </a:avLst>
          </a:prstGeom>
          <a:solidFill>
            <a:srgbClr val="1E3A5F"/>
          </a:solidFill>
          <a:ln/>
        </p:spPr>
      </p:sp>
      <p:sp>
        <p:nvSpPr>
          <p:cNvPr id="26" name="Shape 24"/>
          <p:cNvSpPr/>
          <p:nvPr/>
        </p:nvSpPr>
        <p:spPr>
          <a:xfrm>
            <a:off x="7315200" y="4197096"/>
            <a:ext cx="2926080" cy="219456"/>
          </a:xfrm>
          <a:prstGeom prst="roundRect">
            <a:avLst>
              <a:gd name="adj" fmla="val 20833"/>
            </a:avLst>
          </a:prstGeom>
          <a:solidFill>
            <a:srgbClr val="14B8A6"/>
          </a:solidFill>
          <a:ln/>
        </p:spPr>
      </p:sp>
      <p:sp>
        <p:nvSpPr>
          <p:cNvPr id="27" name="Text 25"/>
          <p:cNvSpPr/>
          <p:nvPr/>
        </p:nvSpPr>
        <p:spPr>
          <a:xfrm>
            <a:off x="10287000" y="412394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0881360" y="4151376"/>
            <a:ext cx="1737360" cy="320040"/>
          </a:xfrm>
          <a:prstGeom prst="roundRect">
            <a:avLst>
              <a:gd name="adj" fmla="val 48571"/>
            </a:avLst>
          </a:prstGeom>
          <a:solidFill>
            <a:srgbClr val="1E3A5F">
              <a:alpha val="80000"/>
            </a:srgbClr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0881360" y="415137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Implementado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57200" y="4782312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Publicação (GitHub público + GitHub Pages ao vivo)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7315200" y="4855464"/>
            <a:ext cx="2926080" cy="219456"/>
          </a:xfrm>
          <a:prstGeom prst="roundRect">
            <a:avLst>
              <a:gd name="adj" fmla="val 20833"/>
            </a:avLst>
          </a:prstGeom>
          <a:solidFill>
            <a:srgbClr val="1E3A5F"/>
          </a:solidFill>
          <a:ln/>
        </p:spPr>
      </p:sp>
      <p:sp>
        <p:nvSpPr>
          <p:cNvPr id="32" name="Shape 30"/>
          <p:cNvSpPr/>
          <p:nvPr/>
        </p:nvSpPr>
        <p:spPr>
          <a:xfrm>
            <a:off x="7315200" y="4855464"/>
            <a:ext cx="2926080" cy="219456"/>
          </a:xfrm>
          <a:prstGeom prst="roundRect">
            <a:avLst>
              <a:gd name="adj" fmla="val 20833"/>
            </a:avLst>
          </a:prstGeom>
          <a:solidFill>
            <a:srgbClr val="14B8A6"/>
          </a:solidFill>
          <a:ln/>
        </p:spPr>
      </p:sp>
      <p:sp>
        <p:nvSpPr>
          <p:cNvPr id="33" name="Text 31"/>
          <p:cNvSpPr/>
          <p:nvPr/>
        </p:nvSpPr>
        <p:spPr>
          <a:xfrm>
            <a:off x="10287000" y="478231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0881360" y="4809744"/>
            <a:ext cx="1737360" cy="320040"/>
          </a:xfrm>
          <a:prstGeom prst="roundRect">
            <a:avLst>
              <a:gd name="adj" fmla="val 48571"/>
            </a:avLst>
          </a:prstGeom>
          <a:solidFill>
            <a:srgbClr val="1E3A5F">
              <a:alpha val="80000"/>
            </a:srgbClr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881360" y="480974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Implementado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57200" y="544068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Vídeo pitch (produção com outro integrante do grupo)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7315200" y="5513832"/>
            <a:ext cx="2926080" cy="219456"/>
          </a:xfrm>
          <a:prstGeom prst="roundRect">
            <a:avLst>
              <a:gd name="adj" fmla="val 20833"/>
            </a:avLst>
          </a:prstGeom>
          <a:solidFill>
            <a:srgbClr val="1E3A5F"/>
          </a:solidFill>
          <a:ln/>
        </p:spPr>
      </p:sp>
      <p:sp>
        <p:nvSpPr>
          <p:cNvPr id="38" name="Shape 36"/>
          <p:cNvSpPr/>
          <p:nvPr/>
        </p:nvSpPr>
        <p:spPr>
          <a:xfrm>
            <a:off x="7315200" y="5513832"/>
            <a:ext cx="45720" cy="219456"/>
          </a:xfrm>
          <a:prstGeom prst="roundRect">
            <a:avLst>
              <a:gd name="adj" fmla="val 100000"/>
            </a:avLst>
          </a:prstGeom>
          <a:solidFill>
            <a:srgbClr val="EF4444"/>
          </a:solidFill>
          <a:ln/>
        </p:spPr>
      </p:sp>
      <p:sp>
        <p:nvSpPr>
          <p:cNvPr id="39" name="Text 37"/>
          <p:cNvSpPr/>
          <p:nvPr/>
        </p:nvSpPr>
        <p:spPr>
          <a:xfrm>
            <a:off x="10287000" y="54406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10881360" y="5468112"/>
            <a:ext cx="1737360" cy="320040"/>
          </a:xfrm>
          <a:prstGeom prst="roundRect">
            <a:avLst>
              <a:gd name="adj" fmla="val 48571"/>
            </a:avLst>
          </a:prstGeom>
          <a:solidFill>
            <a:srgbClr val="1E3A5F">
              <a:alpha val="80000"/>
            </a:srgbClr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0881360" y="546811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Planejado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291840" cy="36576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4ª ENTREGA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Modelos analíticos e técnicas utilizadas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exploratória de dados (EDA), padronização, reconciliação e classificação comparativa aplicadas ao conjunto consolidado.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2103120"/>
            <a:ext cx="3685032" cy="1463040"/>
          </a:xfrm>
          <a:prstGeom prst="roundRect">
            <a:avLst>
              <a:gd name="adj" fmla="val 5000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2240280"/>
            <a:ext cx="3319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Limpeza e padronização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2606040"/>
            <a:ext cx="3319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Decodificação de entidades HTML/Latin-1, parsing do formato "prn" do TabNet, normalização de UF/região/competência.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233672" y="2103120"/>
            <a:ext cx="3685032" cy="1463040"/>
          </a:xfrm>
          <a:prstGeom prst="roundRect">
            <a:avLst>
              <a:gd name="adj" fmla="val 5000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416552" y="2240280"/>
            <a:ext cx="3319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Validação de qualidade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416552" y="2606040"/>
            <a:ext cx="3319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 das 27 UFs por competência, checagem de duplicatas na chave (competência, UF), nulos em campos críticos.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010144" y="2103120"/>
            <a:ext cx="3685032" cy="1463040"/>
          </a:xfrm>
          <a:prstGeom prst="roundRect">
            <a:avLst>
              <a:gd name="adj" fmla="val 5000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193024" y="2240280"/>
            <a:ext cx="3319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Reconciliação estatística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193024" y="2606040"/>
            <a:ext cx="3319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Soma por UF comparada à linha "Total" do próprio TabNet e aos totais de controle originais — divergências reportadas, nunca escondidas.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3703320"/>
            <a:ext cx="3685032" cy="1463040"/>
          </a:xfrm>
          <a:prstGeom prst="roundRect">
            <a:avLst>
              <a:gd name="adj" fmla="val 5000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40080" y="3840480"/>
            <a:ext cx="3319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Classificação por tercis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0080" y="4206240"/>
            <a:ext cx="3319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internacoes_por_100k_hab dividido em 3 grupos (baixo/médio/alto) por competência — indicador usado para colorir o mapa.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233672" y="3703320"/>
            <a:ext cx="3685032" cy="1463040"/>
          </a:xfrm>
          <a:prstGeom prst="roundRect">
            <a:avLst>
              <a:gd name="adj" fmla="val 5000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416552" y="3840480"/>
            <a:ext cx="3319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derivados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416552" y="4206240"/>
            <a:ext cx="3319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Taxas per capita, médias ponderadas por internações, variação mês a mês, razão internações/leito.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010144" y="3703320"/>
            <a:ext cx="3685032" cy="1463040"/>
          </a:xfrm>
          <a:prstGeom prst="roundRect">
            <a:avLst>
              <a:gd name="adj" fmla="val 5000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193024" y="3840480"/>
            <a:ext cx="3319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 em linguagem natural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193024" y="4206240"/>
            <a:ext cx="3319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 Select AI (DBMS_CLOUD_AI) traduz pergunta em português para SQL sobre a view analítica.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291840" cy="36576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4ª ENTREGA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Oracle AI Database — relacional, JSON e CSV/External Table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três formatos exigidos pelo Challenge, implementados em objetos separados e integrados por uma view analítica.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2103120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85800" y="21945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LEITO360_SIH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85800" y="25146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Tabela relacional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840480" y="210312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internações, permanência média, taxa de mortalidade — PK (competência, UF)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063240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85800" y="31546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LEITO360_CNES_JSON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85800" y="34747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Coleção/documento JSON nativo (23ai)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840480" y="306324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leitos SUS cadastrados + metadados da fonte, colunas virtuais para join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4023360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85800" y="41148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LEITO360_POPULACAO_EXT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85800" y="44348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table sobre CSV (Object Storage)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840480" y="402336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DBMS_CLOUD.CREATE_EXTERNAL_TABLE, população por UF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983480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85800" y="50749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VW_LEITO360_ANALITICO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85800" y="53949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analítica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840480" y="498348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 as três fontes + indicadores derivados, base do Select AI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57200" y="598932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 de sintaxe: documentação oficial Oracle Autonomous AI Database 23ai (DDL/JSON/external table). O LiveLabs 4222 foi seguido literalmente apenas para o perfil do Select AI (DBMS_CLOUD_AI.CREATE_PROFILE, provider OCI, DBMS_CLOUD_AI.GENERATE) — ele não cobre criação de tabelas customizadas. Decisão documentada em docs/arquitetura/decisao_livelabs_4222.md.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291840" cy="36576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4ª/5ª ENTREGA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Select AI — perguntas de negócio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LEITO360_AI restrito aos objetos do projeto. Cada pergunta roda com SHOWSQL (mostra o SQL gerado) e RUNSQL (executa e traz o resultado).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2148840"/>
            <a:ext cx="11247120" cy="566928"/>
          </a:xfrm>
          <a:prstGeom prst="roundRect">
            <a:avLst>
              <a:gd name="adj" fmla="val 12903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2148840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B8A6"/>
                </a:solidFill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88720" y="214884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Quais UFs tiveram mais internações por 100 mil habitantes em abril de 2026?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57200" y="2788920"/>
            <a:ext cx="11247120" cy="566928"/>
          </a:xfrm>
          <a:prstGeom prst="roundRect">
            <a:avLst>
              <a:gd name="adj" fmla="val 12903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788920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B8A6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88720" y="278892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Quais regiões possuem menor oferta de leitos SUS por 10 mil habitantes?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7200" y="3429000"/>
            <a:ext cx="11247120" cy="566928"/>
          </a:xfrm>
          <a:prstGeom prst="roundRect">
            <a:avLst>
              <a:gd name="adj" fmla="val 12903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94360" y="3429000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B8A6"/>
                </a:solidFill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88720" y="342900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Quais UFs possuem permanência média acima da média nacional?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57200" y="4069080"/>
            <a:ext cx="11247120" cy="566928"/>
          </a:xfrm>
          <a:prstGeom prst="roundRect">
            <a:avLst>
              <a:gd name="adj" fmla="val 12903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94360" y="4069080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B8A6"/>
                </a:solidFill>
              </a:rPr>
              <a:t>4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188720" y="406908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Quais UFs apresentaram maior aumento de internações entre março e abril de 2026?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457200" y="4709160"/>
            <a:ext cx="11247120" cy="566928"/>
          </a:xfrm>
          <a:prstGeom prst="roundRect">
            <a:avLst>
              <a:gd name="adj" fmla="val 12903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94360" y="4709160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B8A6"/>
                </a:solidFill>
              </a:rPr>
              <a:t>5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188720" y="470916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internações e leitos SUS cadastrados por região em abril de 2026.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57200" y="53949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Evidências reais (prompt, SQL gerado, resultado, interpretação, limitações) documentadas em docs/evidencias/select_ai_perguntas.md após execução no ambiente Oracle acadêmico.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291840" cy="36576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5ª ENTREGA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Evidências — execução real no Oracle (LiveLabs sandbox #229599)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Rodado de verdade em 31/08–01/09/2026, usuário MOVIESTREAM, tenancy C4U04 (India South).</a:t>
            </a:r>
            <a:endParaRPr lang="en-US" sz="14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03120"/>
          <a:ext cx="11247120" cy="3931920"/>
        </p:xfrm>
        <a:graphic>
          <a:graphicData uri="http://schemas.openxmlformats.org/drawingml/2006/table">
            <a:tbl>
              <a:tblPr/>
              <a:tblGrid>
                <a:gridCol w="5029200"/>
                <a:gridCol w="6217920"/>
              </a:tblGrid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Verificação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8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Resultado real (Oracle)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832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SELECT COUNT(*) FROM VW_LEITO360_ANALITICO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162 (27 UFs × 6 competências)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Documentos JSON válidos (doc IS JSON)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162 / 162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Soma internações por competência (Oracle x controle)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1.193.539 / 1.162.871 / 1.178.308 / 1.143.546 / 1.256.010 / 1.218.903 — 0 de diferença em todas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Soma leitos SUS por competência (Oracle x controle)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EAF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315.733 / 316.529 / 316.339 / 316.227 / 316.454 / 316.235 — 0 de diferença em todas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Documento JSON de exemplo (SP, abr/2026)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AF6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{"competencia":"2026-04","codigo_uf":"35","sigla_uf":"SP","estado":"São Paulo","regiao":"Sudeste","leitos_sus_cadastrados":54722}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4A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617220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Executado por MOVIESTREAM no SQL Worksheet do Database Actions. Ambiente temporário do LiveLabs (expira após a reserva) — usado apenas para gerar estas evidências, não é a infraestrutura definitiva do projeto.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291840" cy="36576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5ª ENTREGA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Select AI — perfil real criado, execução bloqueada por infraestrutura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 técnico completo em docs/evidencias/select_ai_perguntas.md — nada aqui foi inventado ou simulado.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2103120"/>
            <a:ext cx="11247120" cy="914400"/>
          </a:xfrm>
          <a:prstGeom prst="roundRect">
            <a:avLst>
              <a:gd name="adj" fmla="val 8000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85800" y="22128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Implementado e confirmado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85800" y="246888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LEITO360_AI criado com sucesso (credencial nativa AI_CREDENTIAL indicada pela Task 2 do workshop, não OCI$RESOURCE_PRINCIPAL); DROP/CREATE_PROFILE respondem em ~1-2s; as 5 perguntas de negócio estão prontas em oracle/sql/08_select_ai_perguntas.sql.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3154680"/>
            <a:ext cx="11247120" cy="2286000"/>
          </a:xfrm>
          <a:prstGeom prst="roundRect">
            <a:avLst>
              <a:gd name="adj" fmla="val 3200"/>
            </a:avLst>
          </a:prstGeom>
          <a:solidFill>
            <a:srgbClr val="2A1810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85800" y="3273552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Bloqueado nesta execução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85800" y="36118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pPr indent="0" marL="0"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chamada a DBMS_CLOUD_AI.GENERATE (chat, showsql) ficou pendente 3-10 min e falhou — testado 4x, em 2 worksheets, com prompts diferentes.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85800" y="405079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pPr indent="0" marL="0"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1ª tentativa (credencial OCI$RESOURCE_PRINCIPAL): erro imediato ORA-20404 com URL contendo "my$cloud_domain" não substituído — bug de configuração do sandbox, não do LEITO360.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85800" y="448970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pPr indent="0" marL="0"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2ª tentativa (credencial correta AI_CREDENTIAL, indicada pelo próprio workshop): sem erro imediato, mas timeout após vários minutos, sem corpo de erro recuperável.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85800" y="4928616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pPr indent="0" marL="0"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consulta SQL comum (SELECT 1 FROM dual) no mesmo worksheet respondeu em milissegundos — confirma que o banco está saudável; o problema é isolado ao serviço de inferência do OCI Generative AI.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7200" y="55778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 passo: reexecutar em um ambiente com OCI Generative AI confirmadamente saudável (tenancy própria ou nova reserva de sandbox) e preencher as evidências reais das 5 perguntas.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291840" cy="36576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6ª ENTREGA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Repositório técnico e código-fonte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github.com/gabriellive1817-stack/Leito_360 (publicar como público) — estrutura organizada por responsabilidade.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2103120"/>
            <a:ext cx="6949440" cy="4206240"/>
          </a:xfrm>
          <a:prstGeom prst="roundRect">
            <a:avLst>
              <a:gd name="adj" fmla="val 1739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85800" y="228600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LEITO360/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2578608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src/                  front-end React + TypeScript + Vite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85800" y="2871216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public/data/          JSON sanitizado consumido pelo dashboard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85800" y="3163824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etl/                  pipeline Python (fetch, parse, validação, indicadores)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85800" y="3456432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data/raw/             respostas originais das fontes (preservadas)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85800" y="374904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data/processed/       CSV/JSON tratados + relatório de validação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85800" y="4041648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oracle/data/          3 formatos separados (CSV relacional, JSON, CSV externo)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85800" y="4334256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oracle/sql/           DDL, carga, view analítica, Select AI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85800" y="4626864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docs/evidencias/      evidências (o quê, prova, fonte, limitação)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85800" y="4919472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docs/arquitetura/     diagramas e decisões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85800" y="521208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docs/gerenciamento/   gestão do projeto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85800" y="5504688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docs/roteiro_pitch/   roteiro do vídeo hands-on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85800" y="5797296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 README.md             arquitetura, indicadores, como executar tudo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543800" y="2103120"/>
            <a:ext cx="4160520" cy="4206240"/>
          </a:xfrm>
          <a:prstGeom prst="roundRect">
            <a:avLst>
              <a:gd name="adj" fmla="val 1758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772400" y="2286000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credenciais no repositório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772400" y="2651760"/>
            <a:ext cx="3703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.gitignore bloqueia node_modules, .env, wallets, tokens e arquivos de credencial. Scripts Oracle usam apenas placeholders (&lt;CREDENTIAL_NAME&gt;, &lt;URI_...&gt;, &lt;SCHEMA_...&gt;).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7772400" y="3840480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do repositório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772400" y="420624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github.com/gabriellive1817-stack/Leito_360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7772400" y="4709160"/>
            <a:ext cx="3703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da aplicação publicada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772400" y="507492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AF6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gabriellive1817-stack.github.io/Leito_360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291840" cy="36576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7ª ENTREGA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Vídeo pitch e demonstração hands-on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Até 5 minutos — roteiro completo em docs/roteiro_pitch/roteiro.md. Gravar somente após todos os links/componentes estarem funcionando.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2103120"/>
            <a:ext cx="11247120" cy="621792"/>
          </a:xfrm>
          <a:prstGeom prst="roundRect">
            <a:avLst>
              <a:gd name="adj" fmla="val 11765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2103120"/>
            <a:ext cx="1463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0:00–0:30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194560" y="2103120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Desafio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0" y="2103120"/>
            <a:ext cx="6492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do SUS fragmentados entre SIH/SUS, CNES e IBGE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57200" y="2788920"/>
            <a:ext cx="11247120" cy="621792"/>
          </a:xfrm>
          <a:prstGeom prst="roundRect">
            <a:avLst>
              <a:gd name="adj" fmla="val 11765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0080" y="2788920"/>
            <a:ext cx="1463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0:30–1:00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194560" y="2788920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029200" y="2788920"/>
            <a:ext cx="6492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Consolidar as três fontes numa plataforma reprodutível e transparente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57200" y="3474720"/>
            <a:ext cx="11247120" cy="621792"/>
          </a:xfrm>
          <a:prstGeom prst="roundRect">
            <a:avLst>
              <a:gd name="adj" fmla="val 11765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40080" y="3474720"/>
            <a:ext cx="1463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1:00–2:00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194560" y="3474720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Solução e arquitetura Oracle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029200" y="3474720"/>
            <a:ext cx="6492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 de ponta a ponta, três formatos, view analítica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57200" y="4160520"/>
            <a:ext cx="11247120" cy="621792"/>
          </a:xfrm>
          <a:prstGeom prst="roundRect">
            <a:avLst>
              <a:gd name="adj" fmla="val 11765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40080" y="4160520"/>
            <a:ext cx="1463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2:00–4:00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194560" y="4160520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Demonstração hands-on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029200" y="4160520"/>
            <a:ext cx="6492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Dashboard, filtros, UF selecionada, Oracle, view, Select AI real, SQL, resultado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57200" y="4846320"/>
            <a:ext cx="11247120" cy="621792"/>
          </a:xfrm>
          <a:prstGeom prst="roundRect">
            <a:avLst>
              <a:gd name="adj" fmla="val 11765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40080" y="4846320"/>
            <a:ext cx="1463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4:00–4:30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2194560" y="4846320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Benefícios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029200" y="4846320"/>
            <a:ext cx="6492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oficiais, pipeline auditável, transparência sobre limitações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57200" y="5532120"/>
            <a:ext cx="11247120" cy="621792"/>
          </a:xfrm>
          <a:prstGeom prst="roundRect">
            <a:avLst>
              <a:gd name="adj" fmla="val 11765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40080" y="5532120"/>
            <a:ext cx="1463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4:30–5:00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2194560" y="5532120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Conclusão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029200" y="5532120"/>
            <a:ext cx="6492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Recapitulação do que foi implementado + próximos passos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57200" y="62636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do vídeo (YouTube): [preencher após gravação e publicação]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291840" cy="36576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8ª ENTREGA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Resultados, limitações e próximos passos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965960"/>
            <a:ext cx="3611880" cy="4206240"/>
          </a:xfrm>
          <a:prstGeom prst="roundRect">
            <a:avLst>
              <a:gd name="adj" fmla="val 2025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85800" y="214884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85800" y="2514600"/>
            <a:ext cx="31546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162 registros reais, reconciliados exatamente com o TabNet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3 formatos Oracle implementados (scripts prontos)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Select AI seguindo literalmente o LiveLabs 4222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Dashboard sem nenhum mock, testado no navegador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Pipeline reprodutível com validação automática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06240" y="1965960"/>
            <a:ext cx="3611880" cy="4206240"/>
          </a:xfrm>
          <a:prstGeom prst="roundRect">
            <a:avLst>
              <a:gd name="adj" fmla="val 2025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434840" y="214884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Limitações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434840" y="2514600"/>
            <a:ext cx="31546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Leitos SUS cadastrados ≠ vagas livres em tempo real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Dados de competências fechadas, não monitoramento ao vivo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Sem alertas automáticos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Mapa usa geometria estilizada, não shapefile oficial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Select AI depende de provedor de LLM configurado pelo usuário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955280" y="1965960"/>
            <a:ext cx="3749040" cy="4206240"/>
          </a:xfrm>
          <a:prstGeom prst="roundRect">
            <a:avLst>
              <a:gd name="adj" fmla="val 1951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183880" y="21488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passos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183880" y="2514600"/>
            <a:ext cx="32918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Automatizar a carga Oracle via job agendado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Avaliar endpoint ORDS seguro para consulta guiada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Ampliar indicadores (CID, tipo de procedimento)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Publicar GitHub, GitHub Pages e vídeo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0312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LEITO</a:t>
            </a:r>
            <a:pPr indent="0" marL="0">
              <a:buNone/>
            </a:pPr>
            <a:r>
              <a:rPr lang="en-US" sz="4400" b="1" dirty="0">
                <a:solidFill>
                  <a:srgbClr val="14B8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360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822960" y="30175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Obrigado — Grupo 61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352044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Gabriel Silva de Jesus · João Gabriel Bernardes · Natália Naomi Nakamura · Pedro Henrique Wei Chern · Vitória Cristina da Silva Coutinho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822960" y="4114800"/>
            <a:ext cx="9875520" cy="1920240"/>
          </a:xfrm>
          <a:prstGeom prst="roundRect">
            <a:avLst>
              <a:gd name="adj" fmla="val 3810"/>
            </a:avLst>
          </a:prstGeom>
          <a:solidFill>
            <a:srgbClr val="0F2A4A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051560" y="42519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Referências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51560" y="4617720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SIH/SUS — tabnet.datasus.gov.br/cgi/deftohtm.exe?sih/cnv/niuf.def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51560" y="4882896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CNES — tabnet.datasus.gov.br/cgi/deftohtm.exe?cnes/cnv/leiintbr.def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051560" y="5148072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IBGE/SIDRA — apisidra.ibge.gov.br (tabela 6579)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051560" y="541324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 LiveLabs 4222 — livelabs.oracle.com (Chat with Your Data Using Select AI)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051560" y="5678424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AF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 Autonomous AI Database 23ai — documentação oficial Oracle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LEITO360 — Challenge FIAP + Oracle 2026 — Grupo 61 — 1TSCOA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27729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2026-09-01T03:25:10Z</dcterms:created>
  <dcterms:modified xsi:type="dcterms:W3CDTF">2026-09-01T03:25:10Z</dcterms:modified>
</cp:coreProperties>
</file>