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1B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abri\Downloads\Healthcare Data Analytics Dashboard\apresentacao\assets\mapa_mar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320040"/>
            <a:ext cx="3749040" cy="37490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17320"/>
            <a:ext cx="13716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Text 1"/>
          <p:cNvSpPr/>
          <p:nvPr/>
        </p:nvSpPr>
        <p:spPr>
          <a:xfrm>
            <a:off x="822960" y="182880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LEITO</a:t>
            </a:r>
            <a:pPr indent="0" marL="0">
              <a:buNone/>
            </a:pPr>
            <a:r>
              <a:rPr lang="en-US" sz="60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360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822960" y="28803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 — Construção da Solução &amp; Pitch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822960" y="33832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analítica que integra SIH/SUS, CNES e IBGE no Oracle AI Database para comparar internações, permanência, mortalidade e leitos SUS cadastrados entre UFs.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22960" y="4206240"/>
            <a:ext cx="10515600" cy="2011680"/>
          </a:xfrm>
          <a:prstGeom prst="roundRect">
            <a:avLst>
              <a:gd name="adj" fmla="val 363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097280" y="43434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FIAP + Oracle 2026 · Turma 1TSCOA · Grupo 61 · Ciências de Dados · FIAP Paulista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97280" y="4800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569250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 Silva de Jesus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Dados, fontes, arquitetura — Representante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097280" y="50840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573021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João Gabriel Bernardes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ETL e indicadores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097280" y="53675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570993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Natália Naomi Nakamura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Gestão, negócio e documentação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97280" y="565099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568816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Pedro Henrique Wei Chern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IA e Select AI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097280" y="593445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570130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Vitória Cristina da Silva Coutinho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UX/UI, protótipo e front-end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problema: dados do SUS fragmentados e tardios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Gestores de saúde cruzam manualmente SIH/SUS, CNES e IBGE para comparar internações, permanência, mortalidade e leitos SUS — sem visão única, comparável e auditável.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3703320" cy="3566160"/>
          </a:xfrm>
          <a:prstGeom prst="roundRect">
            <a:avLst>
              <a:gd name="adj" fmla="val 205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2860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Público-alvo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2697480"/>
            <a:ext cx="3246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Gestores públicos de saúde, pesquisadores e analistas que precisam de uma visão comparativa nacional/regional/estadual baseada em dados oficiais abertos.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15968" y="2103120"/>
            <a:ext cx="3703320" cy="3566160"/>
          </a:xfrm>
          <a:prstGeom prst="roundRect">
            <a:avLst>
              <a:gd name="adj" fmla="val 205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44568" y="22860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44568" y="2697480"/>
            <a:ext cx="3246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Consolidar as três fontes públicas em uma plataforma reprodutível e transparente, com indicadores documentados e consulta em linguagem natural via Oracle Select AI.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74736" y="2103120"/>
            <a:ext cx="3703320" cy="3566160"/>
          </a:xfrm>
          <a:prstGeom prst="roundRect">
            <a:avLst>
              <a:gd name="adj" fmla="val 205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03336" y="22860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do MVP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03336" y="2697480"/>
            <a:ext cx="3246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competências (Nov/2025–Abr/2026), 27 UFs, indicadores de pressão assistencial, leitos SUS/10k hab. e permanência ponderada — sem prometer tempo real.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1 atualizada — planejado x entregue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Comparativo entre o que foi proposto na Sprint 1 (protótipo Figma + apresentação) e o que foi realmente implementado nesta Sprint 2.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48840"/>
          <a:ext cx="11247120" cy="3931920"/>
        </p:xfrm>
        <a:graphic>
          <a:graphicData uri="http://schemas.openxmlformats.org/drawingml/2006/table">
            <a:tbl>
              <a:tblPr/>
              <a:tblGrid>
                <a:gridCol w="1737360"/>
                <a:gridCol w="3657600"/>
                <a:gridCol w="4206240"/>
                <a:gridCol w="1645920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1 (planejado)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2 (entregue)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Números fixos no código (ocupação, ranking, internações)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 real SIH/SUS + CNES + IBGE, 162 registros reconciliados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Citado na UI, sem execução real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Relacional + JSON nativo + CSV + view, carregados e conferidos no Oracle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 AI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estático simulando resposta da 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real respondendo (provider Cohere): NL2SQL sobre a view analítica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telas mockadas, "Ao vivo", ocupação fake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Filtros reais, mapa com malha oficial do IBGE, export CSV, sem mocks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publicado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Repositório público no GitHub + dashboard no ar via GitHub Pages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1722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Oracle, Select AI e dashboard executados de verdade (evidências nos slides 6, 7, 8, 14 e 15). O Select AI só funcionou depois de trocar o provider de OCI Generative AI para Cohere — o percurso do diagnóstico está no slide 15.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MVP implementado — fontes de dados oficiais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fontes públicas, consultadas de verdade (não simuladas), com respostas originais preservadas em data/raw/.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11247120" cy="1188720"/>
          </a:xfrm>
          <a:prstGeom prst="roundRect">
            <a:avLst>
              <a:gd name="adj" fmla="val 6154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5800" y="2359152"/>
            <a:ext cx="731520" cy="731520"/>
          </a:xfrm>
          <a:prstGeom prst="ellipse">
            <a:avLst/>
          </a:prstGeom>
          <a:solidFill>
            <a:srgbClr val="1E3A5F">
              <a:alpha val="80000"/>
            </a:srgbClr>
          </a:solidFill>
          <a:ln w="19050">
            <a:solidFill>
              <a:srgbClr val="14B8A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35915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0" b="1" dirty="0">
                <a:solidFill>
                  <a:srgbClr val="14B8A6"/>
                </a:solidFill>
              </a:rPr>
              <a:t>◆</a:t>
            </a:r>
            <a:endParaRPr lang="en-US" sz="1760" dirty="0"/>
          </a:p>
        </p:txBody>
      </p:sp>
      <p:sp>
        <p:nvSpPr>
          <p:cNvPr id="10" name="Text 8"/>
          <p:cNvSpPr/>
          <p:nvPr/>
        </p:nvSpPr>
        <p:spPr>
          <a:xfrm>
            <a:off x="1600200" y="22128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SIH/SUS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00200" y="2542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Morbidade Hospitalar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63440" y="226771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Internações, permanência média, óbitos, taxa de mortalidade — por UF/competência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326880" y="2468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tabnet.datasus.gov.br (sih/cnv/niuf.def)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429000"/>
            <a:ext cx="11247120" cy="1188720"/>
          </a:xfrm>
          <a:prstGeom prst="roundRect">
            <a:avLst>
              <a:gd name="adj" fmla="val 6154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85800" y="3685032"/>
            <a:ext cx="731520" cy="731520"/>
          </a:xfrm>
          <a:prstGeom prst="ellipse">
            <a:avLst/>
          </a:prstGeom>
          <a:solidFill>
            <a:srgbClr val="1E3A5F">
              <a:alpha val="80000"/>
            </a:srgbClr>
          </a:solidFill>
          <a:ln w="19050">
            <a:solidFill>
              <a:srgbClr val="14B8A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368503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0" b="1" dirty="0">
                <a:solidFill>
                  <a:srgbClr val="14B8A6"/>
                </a:solidFill>
              </a:rPr>
              <a:t>◆</a:t>
            </a:r>
            <a:endParaRPr lang="en-US" sz="1760" dirty="0"/>
          </a:p>
        </p:txBody>
      </p:sp>
      <p:sp>
        <p:nvSpPr>
          <p:cNvPr id="17" name="Text 15"/>
          <p:cNvSpPr/>
          <p:nvPr/>
        </p:nvSpPr>
        <p:spPr>
          <a:xfrm>
            <a:off x="1600200" y="35387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60020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Leitos de Internação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663440" y="359359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Leitos de internação cadastrados e destinados ao SUS — por UF/competência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9326880" y="37947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tabnet.datasus.gov.br (cnes/cnv/leiintbr.def)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4754880"/>
            <a:ext cx="11247120" cy="1188720"/>
          </a:xfrm>
          <a:prstGeom prst="roundRect">
            <a:avLst>
              <a:gd name="adj" fmla="val 6154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85800" y="5010912"/>
            <a:ext cx="731520" cy="731520"/>
          </a:xfrm>
          <a:prstGeom prst="ellipse">
            <a:avLst/>
          </a:prstGeom>
          <a:solidFill>
            <a:srgbClr val="1E3A5F">
              <a:alpha val="80000"/>
            </a:srgbClr>
          </a:solidFill>
          <a:ln w="19050">
            <a:solidFill>
              <a:srgbClr val="14B8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501091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0" b="1" dirty="0">
                <a:solidFill>
                  <a:srgbClr val="14B8A6"/>
                </a:solidFill>
              </a:rPr>
              <a:t>◆</a:t>
            </a:r>
            <a:endParaRPr lang="en-US" sz="1760" dirty="0"/>
          </a:p>
        </p:txBody>
      </p:sp>
      <p:sp>
        <p:nvSpPr>
          <p:cNvPr id="24" name="Text 22"/>
          <p:cNvSpPr/>
          <p:nvPr/>
        </p:nvSpPr>
        <p:spPr>
          <a:xfrm>
            <a:off x="1600200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IBGE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600200" y="51937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População + Malha Territorial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663440" y="491947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População estimada 2026 por UF (SIDRA, tabela 6579) e malha oficial das UFs usada no mapa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326880" y="5120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apisidra.ibge.gov.br · servicodados.ibge.gov.br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6153912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Recorte: 6 competências (Nov/2025 a Abr/2026) · 27 UFs · 162 registros consolidados, sem duplicatas nem nulos, 100% reconciliados com os totais de controle do TabNet.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Algoritmos, métodos e transformações do ETL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Python (biblioteca padrão) reprodutível: fetch → parse → padronização → validação → indicadores → export.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Fetch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(HTTP real)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395728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395728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Parse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(HTML/JSON)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34256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334256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Padroniza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(UF/região)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72784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72784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Valida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(cobertura/nulos)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11312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211312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Indicadores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(fórmulas)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149840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0149840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Export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(CSV/JSON)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157984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096512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035040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973568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912096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57200" y="3383280"/>
            <a:ext cx="11247120" cy="2788920"/>
          </a:xfrm>
          <a:prstGeom prst="roundRect">
            <a:avLst>
              <a:gd name="adj" fmla="val 262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85800" y="35204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e fórmulas (implementados em etl/parse_validate_build.py)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85800" y="38862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Internações /100k hab. = internações ÷ população × 100.000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5800" y="42519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Leitos SUS /10k hab. = leitos SUS cadastrados ÷ população × 10.000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85800" y="4617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Permanência média ponderada = Σ(permanência UF × internações UF) ÷ Σ(internações)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85800" y="49834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Variação mensal = (internações mês atual ÷ internações mês anterior − 1) × 100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85800" y="53492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Internações por leito = internações ÷ leitos SUS cadastrados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85800" y="57150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Tercil de pressão assistencial comparativa (classificação por competência)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2ª/5ª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Evidência da execução real do pipeline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real de data/processed/validacao_pipeline.json — todos os 6 totais mensais batem exatamente com os totais de controle do TabNet.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11247120" cy="27432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Competência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Internações (execução)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Internações (controle)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Diferença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Leitos SUS (execução)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Diferença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2025-11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1.193.539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1.193.539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315.733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2025-12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1.162.871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1.162.871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316.529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2026-01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1.178.308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1.178.308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316.339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2026-02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1.143.546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1.143.546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316.227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2026-03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1.256.010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1.256.010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316.454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2026-04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1.218.903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1.218.903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316.235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5029200"/>
            <a:ext cx="11247120" cy="1188720"/>
          </a:xfrm>
          <a:prstGeom prst="roundRect">
            <a:avLst>
              <a:gd name="adj" fmla="val 6154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5212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 registros </a:t>
            </a:r>
            <a:pPr indent="0" marL="0">
              <a:buNone/>
            </a:pPr>
            <a:r>
              <a:rPr lang="en-US" sz="13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consolidados (27 UFs × 6 competências) · 0 duplicatas · 0 nulos em campos críticos · pipeline com código de saída ≠ 0 em caso de falha de qualidade.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MVP — dashboard (Visão Executiva)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real da aplicação publicada, com dados de Abr/2026 vindos de public/data/leito360.json — nenhum número digitado à mão.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02336" y="2048256"/>
            <a:ext cx="7178040" cy="4087368"/>
          </a:xfrm>
          <a:prstGeom prst="roundRect">
            <a:avLst>
              <a:gd name="adj" fmla="val 1119"/>
            </a:avLst>
          </a:prstGeom>
          <a:solidFill>
            <a:srgbClr val="060D1E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sp>
      <p:pic>
        <p:nvPicPr>
          <p:cNvPr id="8" name="Image 0" descr="C:\Users\Gabri\Downloads\Healthcare Data Analytics Dashboard\docs\evidencias\prints\dashboard_visao_executiv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103120"/>
            <a:ext cx="7068312" cy="39776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772400" y="2103120"/>
            <a:ext cx="3959352" cy="3977640"/>
          </a:xfrm>
          <a:prstGeom prst="roundRect">
            <a:avLst>
              <a:gd name="adj" fmla="val 1848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73568" y="2267712"/>
            <a:ext cx="3557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tela mostra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973568" y="2651760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KPIs recalculados a cada recorte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973568" y="2880360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Internações do período, média por dia, permanência ponderada e leitos SUS cadastrados, com a variação sobre o mês anterior.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973568" y="3502152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com a malha oficial do IBGE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973568" y="3730752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UFs coloridas pelos tercis de pressão assistencial da competência — os cortes aparecem na própria legenda.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973568" y="4352544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Clicar numa UF recorta a tela inteira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973568" y="4581144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Paraná na captura: KPIs, subtítulo, ranking e série de internações passam a responder só por aquela UF.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7973568" y="5202936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e série de seis competências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973568" y="5431536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5 UFs sob maior pressão e a evolução das internações do recorte, com os valores rotulados.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57200" y="6208776"/>
            <a:ext cx="7068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em gabriellive1817-stack.github.io/Leito_360 · competência Abr/2026 · Brasil · UF selecionada: Paraná.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MVP — Explorador Analítico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consultas guiadas sobre os mesmos dados, com SQL equivalente, cobertura do pipeline e exportação em CSV.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02336" y="2048256"/>
            <a:ext cx="7178040" cy="4087368"/>
          </a:xfrm>
          <a:prstGeom prst="roundRect">
            <a:avLst>
              <a:gd name="adj" fmla="val 1119"/>
            </a:avLst>
          </a:prstGeom>
          <a:solidFill>
            <a:srgbClr val="060D1E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sp>
      <p:pic>
        <p:nvPicPr>
          <p:cNvPr id="8" name="Image 0" descr="C:\Users\Gabri\Downloads\Healthcare Data Analytics Dashboard\docs\evidencias\prints\dashboard_explorador_analiti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103120"/>
            <a:ext cx="7068312" cy="39776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772400" y="2103120"/>
            <a:ext cx="3959352" cy="3977640"/>
          </a:xfrm>
          <a:prstGeom prst="roundRect">
            <a:avLst>
              <a:gd name="adj" fmla="val 1848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73568" y="2267712"/>
            <a:ext cx="3557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tela mostra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973568" y="2651760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perguntas de negócio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973568" y="2880360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Maior pressão, menor oferta de leitos, maior permanência e maior mortalidade — resultados reproduzíveis.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973568" y="3502152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equivalente sempre visível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973568" y="3730752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consulta correspondente sobre VW_LEITO360_ANALITICO, identificada como não gerada por IA.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973568" y="4352544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 e cobertura declaradas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973568" y="4581144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UFs, 6 períodos, 162 registros e reconciliação OK, direto do relatório de validação do ETL.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7973568" y="5202936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e limitações na própria tela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973568" y="5431536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oficiais do SIH/SUS, CNES e IBGE e as limitações metodológicas ao lado dos números.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57200" y="6208776"/>
            <a:ext cx="7068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em gabriellive1817-stack.github.io/Leito_360 · competência Abr/2026 · consulta de maior pressão assistencial.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 final implementada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ponta a ponta: fontes oficiais → ETL Python → Oracle (3 formatos) → JSON sanitizado → dashboard estático.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651760"/>
            <a:ext cx="2084832" cy="1554480"/>
          </a:xfrm>
          <a:prstGeom prst="roundRect">
            <a:avLst>
              <a:gd name="adj" fmla="val 470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651760"/>
            <a:ext cx="2084832" cy="73152"/>
          </a:xfrm>
          <a:prstGeom prst="roundRect">
            <a:avLst/>
          </a:prstGeom>
          <a:solidFill>
            <a:srgbClr val="14B8A6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28346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oficiais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32461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TabNet SIH/CNES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IBGE SIDRA + Malhas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697480" y="2651760"/>
            <a:ext cx="2084832" cy="1554480"/>
          </a:xfrm>
          <a:prstGeom prst="roundRect">
            <a:avLst>
              <a:gd name="adj" fmla="val 470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697480" y="2651760"/>
            <a:ext cx="2084832" cy="73152"/>
          </a:xfrm>
          <a:prstGeom prst="round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2807208" y="28346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Python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807208" y="32461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→ parse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 → indicadores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37760" y="2651760"/>
            <a:ext cx="2084832" cy="1554480"/>
          </a:xfrm>
          <a:prstGeom prst="roundRect">
            <a:avLst>
              <a:gd name="adj" fmla="val 470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937760" y="2651760"/>
            <a:ext cx="2084832" cy="73152"/>
          </a:xfrm>
          <a:prstGeom prst="round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5047488" y="28346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AI DB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047488" y="32461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Relacional + 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CSV + view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178040" y="2651760"/>
            <a:ext cx="2084832" cy="1554480"/>
          </a:xfrm>
          <a:prstGeom prst="roundRect">
            <a:avLst>
              <a:gd name="adj" fmla="val 470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178040" y="2651760"/>
            <a:ext cx="2084832" cy="73152"/>
          </a:xfrm>
          <a:prstGeom prst="roundRect">
            <a:avLst/>
          </a:prstGeom>
          <a:solidFill>
            <a:srgbClr val="8B5CF6"/>
          </a:solidFill>
          <a:ln/>
        </p:spPr>
      </p:sp>
      <p:sp>
        <p:nvSpPr>
          <p:cNvPr id="21" name="Text 19"/>
          <p:cNvSpPr/>
          <p:nvPr/>
        </p:nvSpPr>
        <p:spPr>
          <a:xfrm>
            <a:off x="7287768" y="28346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AI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287768" y="32461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LEITO360_AI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SHOWSQL/RUNSQL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418320" y="2651760"/>
            <a:ext cx="2084832" cy="1554480"/>
          </a:xfrm>
          <a:prstGeom prst="roundRect">
            <a:avLst>
              <a:gd name="adj" fmla="val 470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418320" y="2651760"/>
            <a:ext cx="2084832" cy="73152"/>
          </a:xfrm>
          <a:prstGeom prst="roundRect">
            <a:avLst/>
          </a:prstGeom>
          <a:solidFill>
            <a:srgbClr val="14B8A6"/>
          </a:solidFill>
          <a:ln/>
        </p:spPr>
      </p:sp>
      <p:sp>
        <p:nvSpPr>
          <p:cNvPr id="25" name="Text 23"/>
          <p:cNvSpPr/>
          <p:nvPr/>
        </p:nvSpPr>
        <p:spPr>
          <a:xfrm>
            <a:off x="9528048" y="28346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528048" y="32461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React/Vite estático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Pages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459736" y="32004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700016" y="32004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940296" y="32004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180576" y="32004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57200" y="45720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front-end não se conecta ao Oracle nem contém credenciais: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 um JSON estático publicado pelo ETL local. O Select AI roda no Database Actions do Oracle e é demonstrado ao vivo no pitch.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57200" y="5257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Origem dos dados:  </a:t>
            </a:r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SIH/SUS, CNES, IBGE (SIDRA + malha das UFs) — HTTP real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57200" y="5541264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Processamento:  </a:t>
            </a:r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stdlib — fetch_raw.py + parse_validate_build.py + build_malha_uf.py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57200" y="58247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Armazenamento/modelagem:  </a:t>
            </a:r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Oracle: LEITO360_SIH (relacional), LEITO360_CNES_JSON (JSON nativo), LEITO360_POPULACAO (CSV), VW_LEITO360_ANALITICO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57200" y="610819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Visualização/consumo:  </a:t>
            </a:r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public/data/leito360.json → dashboard React/Vite estático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foi realmente implementado (x planejado)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tratar Oracle/Select AI como "evolução futura" — status real de cada camada nesta sprint.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24028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(3 fontes reais, validado, reconciliado)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903720" y="2313432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9" name="Shape 7"/>
          <p:cNvSpPr/>
          <p:nvPr/>
        </p:nvSpPr>
        <p:spPr>
          <a:xfrm>
            <a:off x="6903720" y="2313432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9372600" y="2240280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058400" y="2267712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0" y="226771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953512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Execução Oracle (3 formatos + view, 162 registros confirmados no LiveLabs)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903720" y="302666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15" name="Shape 13"/>
          <p:cNvSpPr/>
          <p:nvPr/>
        </p:nvSpPr>
        <p:spPr>
          <a:xfrm>
            <a:off x="6903720" y="302666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4B8A6"/>
          </a:solidFill>
          <a:ln/>
        </p:spPr>
      </p:sp>
      <p:sp>
        <p:nvSpPr>
          <p:cNvPr id="16" name="Text 14"/>
          <p:cNvSpPr/>
          <p:nvPr/>
        </p:nvSpPr>
        <p:spPr>
          <a:xfrm>
            <a:off x="9372600" y="2953512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058400" y="2980944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0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3666744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AI (perfil real, NL2SQL confirmado, provider Cohere)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903720" y="3739896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21" name="Shape 19"/>
          <p:cNvSpPr/>
          <p:nvPr/>
        </p:nvSpPr>
        <p:spPr>
          <a:xfrm>
            <a:off x="6903720" y="3739896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4B8A6"/>
          </a:solidFill>
          <a:ln/>
        </p:spPr>
      </p:sp>
      <p:sp>
        <p:nvSpPr>
          <p:cNvPr id="22" name="Text 20"/>
          <p:cNvSpPr/>
          <p:nvPr/>
        </p:nvSpPr>
        <p:spPr>
          <a:xfrm>
            <a:off x="9372600" y="3666744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0058400" y="3694176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058400" y="369417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37997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sem mocks (filtros, mapa, export CSV)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903720" y="4453128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27" name="Shape 25"/>
          <p:cNvSpPr/>
          <p:nvPr/>
        </p:nvSpPr>
        <p:spPr>
          <a:xfrm>
            <a:off x="6903720" y="4453128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4B8A6"/>
          </a:solidFill>
          <a:ln/>
        </p:spPr>
      </p:sp>
      <p:sp>
        <p:nvSpPr>
          <p:cNvPr id="28" name="Text 26"/>
          <p:cNvSpPr/>
          <p:nvPr/>
        </p:nvSpPr>
        <p:spPr>
          <a:xfrm>
            <a:off x="9372600" y="4379976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0058400" y="4407408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058400" y="440740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5093208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Publicação (GitHub público + GitHub Pages ao vivo)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903720" y="5166360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33" name="Shape 31"/>
          <p:cNvSpPr/>
          <p:nvPr/>
        </p:nvSpPr>
        <p:spPr>
          <a:xfrm>
            <a:off x="6903720" y="5166360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4B8A6"/>
          </a:solidFill>
          <a:ln/>
        </p:spPr>
      </p:sp>
      <p:sp>
        <p:nvSpPr>
          <p:cNvPr id="34" name="Text 32"/>
          <p:cNvSpPr/>
          <p:nvPr/>
        </p:nvSpPr>
        <p:spPr>
          <a:xfrm>
            <a:off x="9372600" y="509320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0058400" y="5120640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058400" y="51206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7200" y="58064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pitch (gravado, com demonstração ao vivo do Oracle e do dashboard)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903720" y="5879592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39" name="Shape 37"/>
          <p:cNvSpPr/>
          <p:nvPr/>
        </p:nvSpPr>
        <p:spPr>
          <a:xfrm>
            <a:off x="6903720" y="5879592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4B8A6"/>
          </a:solidFill>
          <a:ln/>
        </p:spPr>
      </p:sp>
      <p:sp>
        <p:nvSpPr>
          <p:cNvPr id="40" name="Text 38"/>
          <p:cNvSpPr/>
          <p:nvPr/>
        </p:nvSpPr>
        <p:spPr>
          <a:xfrm>
            <a:off x="9372600" y="5806440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0058400" y="5833872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58400" y="58338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Modelos analíticos e técnicas utilizadas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exploratória de dados (EDA), padronização, reconciliação e classificação comparativa aplicadas ao conjunto consolidado.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2402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Limpeza e padronização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6060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Decodificação de entidades HTML/Latin-1, parsing do formato "prn" do TabNet, normalização de UF/região/competência.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33672" y="21031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416552" y="22402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de qualidade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416552" y="26060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das 27 UFs por competência, checagem de duplicatas na chave (competência, UF), nulos em campos críticos.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10144" y="21031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193024" y="22402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Reconciliação estatística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193024" y="26060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 por UF comparada à linha "Total" do próprio TabNet e aos totais de controle originais — divergências reportadas, nunca escondidas.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7033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080" y="38404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por tercis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42062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internacoes_por_100k_hab dividido em 3 grupos (baixo/médio/alto) por competência — indicador usado para colorir o mapa.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233672" y="37033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416552" y="38404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derivados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16552" y="42062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Taxas per capita, médias ponderadas por internações, variação mês a mês, razão internações/leito.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010144" y="37033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193024" y="38404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em linguagem natural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193024" y="42062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Select AI (DBMS_CLOUD_AI) traduz pergunta em português para SQL sobre a view analítica.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Oracle AI Database — os três formatos, em objetos separados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Relacional, documento JSON nativo e dados vindos de CSV — cada um em seu objeto, integrados por uma view analítica. Abaixo, o que foi de fato executado no Oracle.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194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LEITO360_SIH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514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relacional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840480" y="210312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internações, permanência média, taxa de mortalidade — PK (competência, UF)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06324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85800" y="31546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LEITO360_CNES_JSON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3474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Coleção/documento JSON nativo (23ai)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840480" y="306324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 documentos: leitos SUS cadastrados + metadados da fonte. O join usa JSON_VALUE na view — as colunas virtuais deram ORA-01747 no ambiente real e foram retiradas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40233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4114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LEITO360_POPULACAO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" y="4434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Carregada a partir do CSV do IBGE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840480" y="402336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UFs, população estimada 2026. O script da external table (DBMS_CLOUD.CREATE_EXTERNAL_TABLE sobre Object Storage) está versionado em 03_external_table_ibge.sql; no sandbox rodamos a variante 03b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98348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5800" y="50749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VW_LEITO360_ANALITICO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5800" y="5394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analítica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840480" y="49834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 as três fontes + indicadores derivados, base do Select AI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5989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 de sintaxe: documentação oficial Oracle Autonomous AI Database 23ai. O LiveLabs 4222 foi seguido literalmente apenas para o perfil do Select AI — ele não cobre criação de tabelas customizadas (decisão em docs/arquitetura/decisao_livelabs_4222.md). Montar o bucket de Object Storage não cabia na janela do sandbox, que expira; por isso a população entrou por tabela carregada do mesmo CSV, com o script da external table versionado para quem tiver o bucket disponível.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4ª/5ª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 AI — perguntas de negócio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LEITO360_AI restrito aos objetos do projeto. Cada pergunta roda com SHOWSQL (mostra o SQL gerado) e RUNSQL (executa e traz o resultado).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4884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14884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88720" y="214884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UFs tiveram mais internações por 100 mil habitantes em abril de 2026?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78892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78892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88720" y="278892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regiões possuem menor oferta de leitos SUS por 10 mil habitantes?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42900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342900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88720" y="34290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UFs possuem permanência média acima da média nacional?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406908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406908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88720" y="406908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UFs apresentaram maior aumento de internações entre março e abril de 2026?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470916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470916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188720" y="47091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internações e leitos SUS cadastrados por região em abril de 2026.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Executadas de verdade no Database Actions com o perfil LEITO360_AI (provider Cohere). O SQL gerado, o resultado e as limitações observadas estão em docs/evidencias/select_ai_perguntas.md — nada aqui foi escrito à mão e apresentado como saída da IA.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Evidências — execução real no Oracle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Rodado em dois sandboxes independentes do LiveLabs (#229599 e MovieStreamWorkshop229748), 31/08–01/09/2026. O schema foi recriado do zero no segundo e devolveu exatamente os mesmos números.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11247120" cy="3931920"/>
        </p:xfrm>
        <a:graphic>
          <a:graphicData uri="http://schemas.openxmlformats.org/drawingml/2006/table">
            <a:tbl>
              <a:tblPr/>
              <a:tblGrid>
                <a:gridCol w="5029200"/>
                <a:gridCol w="6217920"/>
              </a:tblGrid>
              <a:tr h="5617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 real (Oracle)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 COUNT(*) FROM VW_LEITO360_ANALITICO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 (27 UFs × 6 competências)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Documentos JSON válidos (doc IS JSON)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 / 162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Soma internações por competência (Oracle x controle)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1.193.539 / 1.162.871 / 1.178.308 / 1.143.546 / 1.256.010 / 1.218.903 — 0 de diferença em todas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Soma leitos SUS por competência (Oracle x controle)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315.733 / 316.529 / 316.339 / 316.227 / 316.454 / 316.235 — 0 de diferença em todas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Ranking abr/2026 no Oracle x ETL local (internações/100 mil hab)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 703,74 · SC 702,27 · RO 701,17 · AP 686,83 · RS 664,58 — idêntico ao data/processed/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Documento JSON de exemplo (SP, abr/2026)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{"competencia":"2026-04","codigo_uf":"35","sigla_uf":"SP","estado":"São Paulo","regiao":"Sudeste","leitos_sus_cadastrados":54722}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1722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no SQL Worksheet do Database Actions. Ambientes temporários do LiveLabs (expiram após a reserva) — usados para gerar estas evidências, não são a infraestrutura definitiva. Os scripts de oracle/sql/consolidado_recriacao/ recriam o schema inteiro em qualquer instância nova.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 AI — NL2SQL real, e conferido contra a fonte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em português → SQL gerado pelo modelo → resultado. Transcrito da tela, sem edição. Provider Cohere (as opções OCI GenAI falharam em 2 sandboxes, 3 regiões e 2 credenciais — percurso em docs/evidencias/).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11680"/>
            <a:ext cx="11247120" cy="1691640"/>
          </a:xfrm>
          <a:prstGeom prst="roundRect">
            <a:avLst>
              <a:gd name="adj" fmla="val 4324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084832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1 — SHOWSQL (2,87 s): o SQL que o modelo gerou sozinho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85800" y="2340864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"Quais Unidades da Federação tiveram mais internações por 100 mil habitantes em abril de 2026?"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261518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DD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vw."ESTADO", vw."SIGLA_UF" FROM "ADMIN"."VW_LEITO360_ANALITICO" vw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7DD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vw."COMPETENCIA" = '2026-04' ORDER BY vw."INTERNACOES_POR_100K_HAB" DESC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85800" y="313639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Escolheu a view analítica, a competência e o indicador corretos sem dica no prompt — o atributo "comments": "true" envia os COMMENT ON TABLE/COLUMN dos scripts 01, 02 e 05 como contexto semântico.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38404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Conferimos as 5 respostas contra o pipeline validado (data/processed/) — o resultado honesto:</a:t>
            </a:r>
            <a:endParaRPr lang="en-US" sz="11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160520"/>
          <a:ext cx="11247120" cy="1691640"/>
        </p:xfrm>
        <a:graphic>
          <a:graphicData uri="http://schemas.openxmlformats.org/drawingml/2006/table">
            <a:tbl>
              <a:tblPr/>
              <a:tblGrid>
                <a:gridCol w="3108960"/>
                <a:gridCol w="6766560"/>
                <a:gridCol w="1371600"/>
              </a:tblGrid>
              <a:tr h="2819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Pergunta de negócio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do Select AI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Conferência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</a:tr>
              <a:tr h="2819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Pressão assistencial por 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Valores conferem (RO 701,17), mas fora da ordem pedida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2819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Menor oferta de leitos por região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Respondeu "Nordeste", que é a de MAIOR oferta (17,15); a menor é Sudeste (12,53). E o SQL do SHOWSQL retornaria outro resultado ainda — o RUNSQL executou SQL diferente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Incorreta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2819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Permanência acima da média nacional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RR, TO, MA, PI, CE, PB — todas no conjunto correto (média ponderada 4,882 dias)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2819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· Maior aumento de internações mar→abr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 +1.187 — exato (só 5 UFs cresceram num mês de queda nacional)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2819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· Internações x leitos por região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Norte 108.136/28.346 · Nordeste 311.866/98.381 — batem número a número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457200" y="594360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2A241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85800" y="5943600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Conclusão: </a:t>
            </a:r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 5 plenamente corretas, 1 com ordenação errada e 1 incorreta. O Select AI é uma ótima ferramenta de exploração, mas não substitui a consulta auditada — por isso o dashboard usa o JSON determinístico do ETL e marca seu SQL como "não gerado por IA".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Repositório técnico e código-fonte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github.com/gabriellive1817-stack/Leito_360 — repositório público, estrutura organizada por responsabilidade.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6949440" cy="4206240"/>
          </a:xfrm>
          <a:prstGeom prst="roundRect">
            <a:avLst>
              <a:gd name="adj" fmla="val 1739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28600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LEITO360/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85800" y="256032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src/                  front-end React + TypeScript + Vite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5800" y="28346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public/data/          JSON sanitizado consumido pelo dashboard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85800" y="310896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etl/                  pipeline Python (fetch, parse, validação, indicadores)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85800" y="338328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data/raw/             respostas originais das fontes (preservadas)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85800" y="365760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data/processed/       CSV/JSON tratados + relatório de validação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85800" y="393192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oracle/data/          3 formatos separados (CSV, JSON, CSV externo)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85800" y="42062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oracle/sql/           DDL, carga, view analítica, Select AI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85800" y="448056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docs/evidencias/      evidências (o quê, prova, fonte, limitação)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85800" y="475488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docs/arquitetura/     diagramas e decisões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85800" y="502920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docs/gerenciamento/   gestão do projeto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85800" y="530352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docs/roteiro_pitch/   roteiro de gravação + texto falado do pitch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85800" y="55778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apresentacao/         gerador deste PPTX (pptxgenjs, reprodutível)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85800" y="585216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README.md             arquitetura, indicadores, como executar tudo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543800" y="2103120"/>
            <a:ext cx="4160520" cy="4206240"/>
          </a:xfrm>
          <a:prstGeom prst="roundRect">
            <a:avLst>
              <a:gd name="adj" fmla="val 1758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772400" y="228600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credenciais no repositório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772400" y="265176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.gitignore bloqueia node_modules, .env, wallets, tokens e arquivos de credencial. Scripts Oracle usam apenas placeholders (&lt;CREDENTIAL_NAME&gt;, &lt;URI_...&gt;, &lt;SCHEMA_...&gt;).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772400" y="384048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do repositório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772400" y="42062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github.com/gabriellive1817-stack/Leito_360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772400" y="470916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da aplicação publicada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772400" y="507492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gabriellive1817-stack.github.io/Leito_360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Vídeo pitch e demonstração hands-on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Gravado, com demonstração ao vivo do dashboard publicado e do Oracle Database Actions. Plano em docs/roteiro_pitch/roteiro.md e o texto falado, dividido por integrante, em texto_pitch.md.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84832"/>
            <a:ext cx="11247120" cy="530352"/>
          </a:xfrm>
          <a:prstGeom prst="roundRect">
            <a:avLst>
              <a:gd name="adj" fmla="val 1379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084832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0:00–0:30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194560" y="2084832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0" y="2084832"/>
            <a:ext cx="6492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do SUS fragmentados entre SIH/SUS, CNES e IBGE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679192"/>
            <a:ext cx="11247120" cy="530352"/>
          </a:xfrm>
          <a:prstGeom prst="roundRect">
            <a:avLst>
              <a:gd name="adj" fmla="val 1379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679192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0:30–1:00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94560" y="2679192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0" y="2679192"/>
            <a:ext cx="6492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Consolidar as três fontes numa plataforma reprodutível e transparente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273552"/>
            <a:ext cx="11247120" cy="530352"/>
          </a:xfrm>
          <a:prstGeom prst="roundRect">
            <a:avLst>
              <a:gd name="adj" fmla="val 1379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0080" y="3273552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1:00–2:00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94560" y="3273552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e arquitetura Oracle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0" y="3273552"/>
            <a:ext cx="6492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ponta a ponta, três formatos, view analítica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867912"/>
            <a:ext cx="11247120" cy="530352"/>
          </a:xfrm>
          <a:prstGeom prst="roundRect">
            <a:avLst>
              <a:gd name="adj" fmla="val 1379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0080" y="3867912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2:00–4:00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194560" y="3867912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hands-on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0" y="3867912"/>
            <a:ext cx="6492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filtros, UF selecionada, Oracle, view, Select AI real, SQL, resultado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4462272"/>
            <a:ext cx="11247120" cy="530352"/>
          </a:xfrm>
          <a:prstGeom prst="roundRect">
            <a:avLst>
              <a:gd name="adj" fmla="val 1379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0080" y="4462272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4:00–4:30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194560" y="4462272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29200" y="4462272"/>
            <a:ext cx="6492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oficiais, pipeline auditável, transparência sobre limitações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5056632"/>
            <a:ext cx="11247120" cy="530352"/>
          </a:xfrm>
          <a:prstGeom prst="roundRect">
            <a:avLst>
              <a:gd name="adj" fmla="val 1379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40080" y="5056632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4:30–5:00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194560" y="5056632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029200" y="5056632"/>
            <a:ext cx="6492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Recapitulação do que foi implementado + próximos passos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57200" y="5705856"/>
            <a:ext cx="11247120" cy="475488"/>
          </a:xfrm>
          <a:prstGeom prst="roundRect">
            <a:avLst>
              <a:gd name="adj" fmla="val 15385"/>
            </a:avLst>
          </a:prstGeom>
          <a:solidFill>
            <a:srgbClr val="12233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85800" y="5705856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Link do vídeo (YouTube):   </a:t>
            </a:r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https://www.youtube.com/watch?v=IAoJ_zeWXmQ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Resultados, limitações e próximos passos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965960"/>
            <a:ext cx="3611880" cy="4206240"/>
          </a:xfrm>
          <a:prstGeom prst="roundRect">
            <a:avLst>
              <a:gd name="adj" fmla="val 202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214884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2514600"/>
            <a:ext cx="31546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162 registros reais, reconciliados exatamente com o TabNet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 formatos Oracle implementados (scripts prontos)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Select AI respondendo: NL2SQL real sobre a view analítica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Dashboard sem nenhum mock, publicado e testado no navegador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Pipeline reprodutível com validação automática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06240" y="1965960"/>
            <a:ext cx="3611880" cy="4206240"/>
          </a:xfrm>
          <a:prstGeom prst="roundRect">
            <a:avLst>
              <a:gd name="adj" fmla="val 202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34840" y="214884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434840" y="2514600"/>
            <a:ext cx="31546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Leitos SUS cadastrados ≠ vagas livres em tempo real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Dados de competências fechadas, não monitoramento ao vivo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Sem alertas automáticos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Mapa usa a malha do IBGE em qualidade mínima (simplificada)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SQL gerado pelo LLM é não determinístico — sempre conferido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955280" y="1965960"/>
            <a:ext cx="3749040" cy="4206240"/>
          </a:xfrm>
          <a:prstGeom prst="roundRect">
            <a:avLst>
              <a:gd name="adj" fmla="val 195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183880" y="2148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83880" y="2514600"/>
            <a:ext cx="3291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Automatizar a carga Oracle via job agendado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Avaliar endpoint ORDS seguro para consulta guiada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Ampliar indicadores (CID, tipo de procedimento)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Transcrever as saídas das perguntas 2 a 5 do Select AI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031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LEITO</a:t>
            </a:r>
            <a:pPr indent="0" marL="0">
              <a:buNone/>
            </a:pPr>
            <a:r>
              <a:rPr lang="en-US" sz="44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360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017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 — Grupo 61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35204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 Silva de Jesus · João Gabriel Bernardes · Natália Naomi Nakamura · Pedro Henrique Wei Chern · Vitória Cristina da Silva Coutinho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22960" y="4114800"/>
            <a:ext cx="9875520" cy="1920240"/>
          </a:xfrm>
          <a:prstGeom prst="roundRect">
            <a:avLst>
              <a:gd name="adj" fmla="val 381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51560" y="4251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4617720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SIH/SUS — tabnet.datasus.gov.br/cgi/deftohtm.exe?sih/cnv/niuf.def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51560" y="4882896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CNES — tabnet.datasus.gov.br/cgi/deftohtm.exe?cnes/cnv/leiintbr.def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51560" y="514807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IBGE/SIDRA — apisidra.ibge.gov.br (tabela 6579)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51560" y="541324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LiveLabs 4222 — livelabs.oracle.com (Chat with Your Data Using Select AI)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51560" y="5678424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Autonomous AI Database 23ai — documentação oficial Oracle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2026-09-02T01:31:52Z</dcterms:created>
  <dcterms:modified xsi:type="dcterms:W3CDTF">2026-09-02T01:31:52Z</dcterms:modified>
</cp:coreProperties>
</file>